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32"/>
  </p:notesMasterIdLst>
  <p:sldIdLst>
    <p:sldId id="256" r:id="rId3"/>
    <p:sldId id="266" r:id="rId4"/>
    <p:sldId id="276" r:id="rId5"/>
    <p:sldId id="258" r:id="rId6"/>
    <p:sldId id="277" r:id="rId7"/>
    <p:sldId id="267" r:id="rId8"/>
    <p:sldId id="278" r:id="rId9"/>
    <p:sldId id="268" r:id="rId10"/>
    <p:sldId id="279" r:id="rId11"/>
    <p:sldId id="269" r:id="rId12"/>
    <p:sldId id="280" r:id="rId13"/>
    <p:sldId id="262" r:id="rId14"/>
    <p:sldId id="281" r:id="rId15"/>
    <p:sldId id="257" r:id="rId16"/>
    <p:sldId id="270" r:id="rId17"/>
    <p:sldId id="282" r:id="rId18"/>
    <p:sldId id="264" r:id="rId19"/>
    <p:sldId id="283" r:id="rId20"/>
    <p:sldId id="273" r:id="rId21"/>
    <p:sldId id="271" r:id="rId22"/>
    <p:sldId id="259" r:id="rId23"/>
    <p:sldId id="260" r:id="rId24"/>
    <p:sldId id="272" r:id="rId25"/>
    <p:sldId id="274" r:id="rId26"/>
    <p:sldId id="275" r:id="rId27"/>
    <p:sldId id="261" r:id="rId28"/>
    <p:sldId id="284" r:id="rId29"/>
    <p:sldId id="263" r:id="rId30"/>
    <p:sldId id="285" r:id="rId31"/>
  </p:sldIdLst>
  <p:sldSz cx="12192000" cy="6858000"/>
  <p:notesSz cx="6858000" cy="12192000"/>
  <p:embeddedFontLst>
    <p:embeddedFont>
      <p:font typeface="Consolas" panose="020B0609020204030204" pitchFamily="49" charset="0"/>
      <p:regular r:id="rId33"/>
      <p:bold r:id="rId34"/>
      <p:italic r:id="rId35"/>
      <p:boldItalic r:id="rId36"/>
    </p:embeddedFont>
    <p:embeddedFont>
      <p:font typeface="Instrument Sans" panose="020B0604020202020204" charset="0"/>
      <p:regular r:id="rId37"/>
    </p:embeddedFont>
    <p:embeddedFont>
      <p:font typeface="Instrument Sans Medium" panose="020B0604020202020204" charset="0"/>
      <p:regular r:id="rId38"/>
    </p:embeddedFont>
    <p:embeddedFont>
      <p:font typeface="Inter" panose="020B0604020202020204" charset="0"/>
      <p:regular r:id="rId39"/>
    </p:embeddedFont>
    <p:embeddedFont>
      <p:font typeface="Inter Bold" panose="020B0604020202020204" charset="0"/>
      <p:regular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86" autoAdjust="0"/>
    <p:restoredTop sz="94610"/>
  </p:normalViewPr>
  <p:slideViewPr>
    <p:cSldViewPr snapToGrid="0" snapToObjects="1">
      <p:cViewPr varScale="1">
        <p:scale>
          <a:sx n="59" d="100"/>
          <a:sy n="59" d="100"/>
        </p:scale>
        <p:origin x="8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7062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BC28A-6AA6-01E7-0852-DC3DE8CBB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63AF1-6617-4091-CBBE-191CEB7E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E866A-9177-6E36-DC15-7F23F254B5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0D0464-FED8-783D-5E3B-3110B313AB2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6222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1F524-7DB4-579A-4121-6F87384FF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A305D-5913-93C0-CBC7-F567C5C07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6B8A24-8D8A-3867-E7D5-3DBD50C770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EBA892-5FDD-565F-356E-C0078CF798D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184955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CFF69-1619-B547-B0D4-31CA009EE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DDB55-BC53-2AE0-63DC-1372A016C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BBB0A-3777-1ABC-0879-F0E0FEBF15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439843-8661-DA1D-EA63-CE16E1B34BB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37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249DC-1D5C-6FCF-9AB3-CD3F4F9BA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0849A-7654-B99C-0F4F-6CAE7900B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C169C8-3488-19FE-A200-43C7C80B5A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52127B-BD93-C8F1-366E-591A9852E53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28014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4201D-6F47-68B0-77DC-749E9DD0A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A057A-3F50-B664-C640-5DC97FC335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EAC718-41C1-63CE-9CEF-114441E531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1366B8-5536-4580-A2CC-D4C00770B67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13551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66638-275A-9B24-AFA7-6BE205E9B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B2C7D-2B4D-7E3B-2F99-1E17DE1DF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4FC16-9D84-15E4-C271-1FABF43CFB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3C1A23-3BA2-C0C3-56AB-81FEBFEF613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237144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FFACD-A5E7-0324-0635-CE5F2DAF3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30B58-A846-2DD3-BCF6-E5E628F3F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A85A0-778B-604A-C719-5824E1E04F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646660-529B-1838-EB59-5BA1CF9682D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904208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1DC1D-485D-1AF6-F061-092BABD0E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A4C20-7225-1437-E932-A9F9FF38B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75ACDF-F8E3-B833-DF0B-49171DF4A6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017C36-D5D3-788F-4B39-E973E8AC0C6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072382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5C571-2324-6BEA-1AFE-1EEBA2E16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DA882-3282-1122-30FA-2D98471E5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45F3D-C8DE-8F3D-729A-5D4121BFD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45545C-EB6B-9420-FF9F-4C87317A968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87024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FD42E-E3C9-50FD-A7E0-93AD80BDF1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1C1FF-DB39-38B7-DDBE-8576672602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3C8A22-C72C-FC0A-B41C-200F1188B8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E0D5A4-41A9-9410-D67D-4D7BC922AD4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2381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B7F08-F7FD-635D-A95B-9EC7B10DA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044B3-3216-D5E3-2823-7277CBABB1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FB971-A2F1-1B49-5718-E96768BB11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2805D4-79D4-A45F-48FC-D22D72EC259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1825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719"/>
          </a:solidFill>
          <a:ln/>
        </p:spPr>
        <p:txBody>
          <a:bodyPr/>
          <a:lstStyle/>
          <a:p>
            <a:endParaRPr lang="es-CO"/>
          </a:p>
        </p:txBody>
      </p:sp>
      <p:sp>
        <p:nvSpPr>
          <p:cNvPr id="3" name="Shape 1"/>
          <p:cNvSpPr/>
          <p:nvPr/>
        </p:nvSpPr>
        <p:spPr>
          <a:xfrm>
            <a:off x="0" y="0"/>
            <a:ext cx="12191695" cy="6858000"/>
          </a:xfrm>
          <a:prstGeom prst="rect">
            <a:avLst/>
          </a:prstGeom>
          <a:solidFill>
            <a:srgbClr val="242429"/>
          </a:solidFill>
          <a:ln/>
        </p:spPr>
        <p:txBody>
          <a:bodyPr/>
          <a:lstStyle/>
          <a:p>
            <a:endParaRPr lang="es-CO"/>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8591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719"/>
          </a:solidFill>
          <a:ln/>
        </p:spPr>
        <p:txBody>
          <a:bodyPr/>
          <a:lstStyle/>
          <a:p>
            <a:endParaRPr lang="es-CO"/>
          </a:p>
        </p:txBody>
      </p:sp>
      <p:sp>
        <p:nvSpPr>
          <p:cNvPr id="3" name="Shape 1"/>
          <p:cNvSpPr/>
          <p:nvPr/>
        </p:nvSpPr>
        <p:spPr>
          <a:xfrm>
            <a:off x="0" y="0"/>
            <a:ext cx="12191695" cy="6858000"/>
          </a:xfrm>
          <a:prstGeom prst="rect">
            <a:avLst/>
          </a:prstGeom>
          <a:solidFill>
            <a:srgbClr val="242429"/>
          </a:solidFill>
          <a:ln/>
        </p:spPr>
        <p:txBody>
          <a:bodyPr/>
          <a:lstStyle/>
          <a:p>
            <a:endParaRPr lang="es-CO"/>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extLst>
      <p:ext uri="{BB962C8B-B14F-4D97-AF65-F5344CB8AC3E}">
        <p14:creationId xmlns:p14="http://schemas.microsoft.com/office/powerpoint/2010/main" val="699494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01798"/>
      </p:ext>
    </p:extLst>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Shape 0"/>
          <p:cNvSpPr/>
          <p:nvPr/>
        </p:nvSpPr>
        <p:spPr>
          <a:xfrm>
            <a:off x="661475" y="1398885"/>
            <a:ext cx="3580814" cy="287139"/>
          </a:xfrm>
          <a:prstGeom prst="roundRect">
            <a:avLst>
              <a:gd name="adj" fmla="val 7899"/>
            </a:avLst>
          </a:prstGeom>
          <a:solidFill>
            <a:srgbClr val="4A0303"/>
          </a:solidFill>
          <a:ln/>
        </p:spPr>
        <p:txBody>
          <a:bodyPr/>
          <a:lstStyle/>
          <a:p>
            <a:endParaRPr lang="es-CO"/>
          </a:p>
        </p:txBody>
      </p:sp>
      <p:sp>
        <p:nvSpPr>
          <p:cNvPr id="4" name="Text 1"/>
          <p:cNvSpPr/>
          <p:nvPr/>
        </p:nvSpPr>
        <p:spPr>
          <a:xfrm>
            <a:off x="774879" y="1455539"/>
            <a:ext cx="3963591" cy="173831"/>
          </a:xfrm>
          <a:prstGeom prst="rect">
            <a:avLst/>
          </a:prstGeom>
          <a:noFill/>
          <a:ln/>
        </p:spPr>
        <p:txBody>
          <a:bodyPr wrap="none" lIns="0" tIns="0" rIns="0" bIns="0" rtlCol="0" anchor="t"/>
          <a:lstStyle/>
          <a:p>
            <a:pPr marL="0" indent="0" algn="l">
              <a:lnSpc>
                <a:spcPct val="96000"/>
              </a:lnSpc>
              <a:buNone/>
            </a:pPr>
            <a:r>
              <a:rPr lang="en-US" sz="1150" dirty="0">
                <a:solidFill>
                  <a:srgbClr val="C7CDD6"/>
                </a:solidFill>
                <a:latin typeface="Inter" pitchFamily="34" charset="0"/>
                <a:ea typeface="Inter" pitchFamily="34" charset="-122"/>
                <a:cs typeface="Inter" pitchFamily="34" charset="-120"/>
              </a:rPr>
              <a:t>PROGRAMACIÓN MÓVIL · IF2004 · GRUPO 601</a:t>
            </a:r>
            <a:endParaRPr lang="en-US" sz="1150" dirty="0"/>
          </a:p>
        </p:txBody>
      </p:sp>
      <p:sp>
        <p:nvSpPr>
          <p:cNvPr id="5" name="Text 2"/>
          <p:cNvSpPr/>
          <p:nvPr/>
        </p:nvSpPr>
        <p:spPr>
          <a:xfrm>
            <a:off x="661475" y="1761629"/>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EFD5FA"/>
                </a:solidFill>
                <a:latin typeface="Instrument Sans Medium" pitchFamily="34" charset="0"/>
                <a:ea typeface="Instrument Sans Medium" pitchFamily="34" charset="-122"/>
                <a:cs typeface="Instrument Sans Medium" pitchFamily="34" charset="-120"/>
              </a:rPr>
              <a:t>Arrendamientos Butaquito</a:t>
            </a:r>
            <a:endParaRPr lang="en-US" sz="3700" dirty="0"/>
          </a:p>
        </p:txBody>
      </p:sp>
      <p:sp>
        <p:nvSpPr>
          <p:cNvPr id="6" name="Text 3"/>
          <p:cNvSpPr/>
          <p:nvPr/>
        </p:nvSpPr>
        <p:spPr>
          <a:xfrm>
            <a:off x="661475" y="2635746"/>
            <a:ext cx="6296860" cy="815181"/>
          </a:xfrm>
          <a:prstGeom prst="rect">
            <a:avLst/>
          </a:prstGeom>
          <a:noFill/>
          <a:ln/>
        </p:spPr>
        <p:txBody>
          <a:bodyPr wrap="none" lIns="0" tIns="0" rIns="0" bIns="0" rtlCol="0" anchor="t"/>
          <a:lstStyle/>
          <a:p>
            <a:pPr marL="0" indent="0" algn="l">
              <a:lnSpc>
                <a:spcPct val="104000"/>
              </a:lnSpc>
              <a:buNone/>
            </a:pPr>
            <a:r>
              <a:rPr lang="en-US" sz="5100" dirty="0">
                <a:solidFill>
                  <a:srgbClr val="EFD5FA"/>
                </a:solidFill>
                <a:latin typeface="Instrument Sans Medium" pitchFamily="34" charset="0"/>
                <a:ea typeface="Instrument Sans Medium" pitchFamily="34" charset="-122"/>
                <a:cs typeface="Instrument Sans Medium" pitchFamily="34" charset="-120"/>
              </a:rPr>
              <a:t>Inventario Digital</a:t>
            </a:r>
            <a:endParaRPr lang="en-US" sz="5100" dirty="0"/>
          </a:p>
        </p:txBody>
      </p:sp>
      <p:sp>
        <p:nvSpPr>
          <p:cNvPr id="7" name="Text 4"/>
          <p:cNvSpPr/>
          <p:nvPr/>
        </p:nvSpPr>
        <p:spPr>
          <a:xfrm>
            <a:off x="661475" y="3734395"/>
            <a:ext cx="6296860" cy="1724720"/>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C7CDD6"/>
                </a:solidFill>
                <a:latin typeface="Inter" pitchFamily="34" charset="0"/>
                <a:ea typeface="Inter" pitchFamily="34" charset="-122"/>
                <a:cs typeface="Inter" pitchFamily="34" charset="-120"/>
              </a:rPr>
              <a:t>Prototipo funcional de aplicación móvil en Flutter para la gestión de inventarios de inmuebles en arrendamiento. Interfaz adaptativa para Android e iOS.</a:t>
            </a:r>
            <a:endParaRPr lang="en-US" sz="1450" dirty="0"/>
          </a:p>
          <a:p>
            <a:pPr marL="0" indent="0" algn="l">
              <a:lnSpc>
                <a:spcPct val="133000"/>
              </a:lnSpc>
              <a:buNone/>
            </a:pPr>
            <a:r>
              <a:rPr lang="en-US" sz="1450" b="1" dirty="0">
                <a:solidFill>
                  <a:srgbClr val="C7CDD6"/>
                </a:solidFill>
                <a:latin typeface="Inter Bold" pitchFamily="34" charset="0"/>
                <a:ea typeface="Inter Bold" pitchFamily="34" charset="-122"/>
                <a:cs typeface="Inter Bold" pitchFamily="34" charset="-120"/>
              </a:rPr>
              <a:t>Integrantes:</a:t>
            </a:r>
            <a:r>
              <a:rPr lang="en-US" sz="1450" dirty="0">
                <a:solidFill>
                  <a:srgbClr val="C7CDD6"/>
                </a:solidFill>
                <a:latin typeface="Inter" pitchFamily="34" charset="0"/>
                <a:ea typeface="Inter" pitchFamily="34" charset="-122"/>
                <a:cs typeface="Inter" pitchFamily="34" charset="-120"/>
              </a:rPr>
              <a:t> Juan José López Echeverri · Mateo Vásquez Hoyos · Juan David Martínez  |  Versión 1.0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462855"/>
            <a:ext cx="1502928" cy="219869"/>
          </a:xfrm>
          <a:prstGeom prst="roundRect">
            <a:avLst>
              <a:gd name="adj" fmla="val 7898"/>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48289" y="506214"/>
            <a:ext cx="1938884" cy="133152"/>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ACTORES DEL SISTEMA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733326"/>
            <a:ext cx="10868745" cy="452239"/>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Stakeholders, Actores y Roles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1375470"/>
            <a:ext cx="10868745" cy="434181"/>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El sistema distingue entre los </a:t>
            </a:r>
            <a:r>
              <a:rPr kumimoji="0" lang="en-US" sz="11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receptores del servicio</a:t>
            </a:r>
            <a:r>
              <a:rPr kumimoji="0" lang="en-US" sz="11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(stakeholders externos) y los </a:t>
            </a:r>
            <a:r>
              <a:rPr kumimoji="0" lang="en-US" sz="11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operadores del sistema</a:t>
            </a:r>
            <a:r>
              <a:rPr kumimoji="0" lang="en-US" sz="11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(actores internos), cada uno con responsabilidades y flujos de acceso diferenciados dentro del prototipo.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661475" y="1952030"/>
            <a:ext cx="3105965" cy="1919585"/>
          </a:xfrm>
          <a:prstGeom prst="rect">
            <a:avLst/>
          </a:prstGeom>
        </p:spPr>
      </p:pic>
      <p:sp>
        <p:nvSpPr>
          <p:cNvPr id="7" name="Text 4"/>
          <p:cNvSpPr/>
          <p:nvPr/>
        </p:nvSpPr>
        <p:spPr>
          <a:xfrm>
            <a:off x="661475" y="4029869"/>
            <a:ext cx="5355198" cy="22602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Interesados Externos (Stakeholders)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661475" y="4331791"/>
            <a:ext cx="5355198" cy="1173956"/>
          </a:xfrm>
          <a:prstGeom prst="rect">
            <a:avLst/>
          </a:prstGeom>
          <a:noFill/>
          <a:ln/>
        </p:spPr>
        <p:txBody>
          <a:bodyPr wrap="square" lIns="0" tIns="0" rIns="0" bIns="0" rtlCol="0" anchor="t">
            <a:normAutofit/>
          </a:bodyPr>
          <a:lstStyle/>
          <a:p>
            <a:pPr marL="223520" marR="0" lvl="0" indent="-223520" algn="l" defTabSz="914400" rtl="0" eaLnBrk="1" fontAlgn="auto" latinLnBrk="0" hangingPunct="1">
              <a:lnSpc>
                <a:spcPct val="125000"/>
              </a:lnSpc>
              <a:spcBef>
                <a:spcPts val="0"/>
              </a:spcBef>
              <a:spcAft>
                <a:spcPts val="0"/>
              </a:spcAft>
              <a:buClrTx/>
              <a:buSzPct val="100000"/>
              <a:buFontTx/>
              <a:buChar char="•"/>
              <a:tabLst/>
              <a:defRPr/>
            </a:pPr>
            <a:r>
              <a:rPr kumimoji="0" lang="en-US" sz="11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Propietario:</a:t>
            </a:r>
            <a:r>
              <a:rPr kumimoji="0" lang="en-US" sz="11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Recibe el inventario finalizado como evidencia del estado del inmueble.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3520" marR="0" lvl="0" indent="-223520" algn="l" defTabSz="914400" rtl="0" eaLnBrk="1" fontAlgn="auto" latinLnBrk="0" hangingPunct="1">
              <a:lnSpc>
                <a:spcPct val="125000"/>
              </a:lnSpc>
              <a:spcBef>
                <a:spcPts val="0"/>
              </a:spcBef>
              <a:spcAft>
                <a:spcPts val="0"/>
              </a:spcAft>
              <a:buClrTx/>
              <a:buSzPct val="100000"/>
              <a:buFontTx/>
              <a:buChar char="•"/>
              <a:tabLst/>
              <a:defRPr/>
            </a:pPr>
            <a:r>
              <a:rPr kumimoji="0" lang="en-US" sz="11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Inquilino:</a:t>
            </a:r>
            <a:r>
              <a:rPr kumimoji="0" lang="en-US" sz="11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Destinatario del reporte para validar condiciones al inicio o fin del arriendo.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3520" marR="0" lvl="0" indent="-223520" algn="l" defTabSz="914400" rtl="0" eaLnBrk="1" fontAlgn="auto" latinLnBrk="0" hangingPunct="1">
              <a:lnSpc>
                <a:spcPct val="125000"/>
              </a:lnSpc>
              <a:spcBef>
                <a:spcPts val="0"/>
              </a:spcBef>
              <a:spcAft>
                <a:spcPts val="0"/>
              </a:spcAft>
              <a:buClrTx/>
              <a:buSzPct val="100000"/>
              <a:buFontTx/>
              <a:buChar char="•"/>
              <a:tabLst/>
              <a:defRPr/>
            </a:pPr>
            <a:r>
              <a:rPr kumimoji="0" lang="en-US" sz="11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Asesor:</a:t>
            </a:r>
            <a:r>
              <a:rPr kumimoji="0" lang="en-US" sz="11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Intermediario que coordina y supervisa el proceso de inventario.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Image 1" descr="preencoded.png"/>
          <p:cNvPicPr>
            <a:picLocks noChangeAspect="1"/>
          </p:cNvPicPr>
          <p:nvPr/>
        </p:nvPicPr>
        <p:blipFill>
          <a:blip r:embed="rId4"/>
          <a:stretch>
            <a:fillRect/>
          </a:stretch>
        </p:blipFill>
        <p:spPr>
          <a:xfrm>
            <a:off x="6174923" y="1952030"/>
            <a:ext cx="3106064" cy="1919684"/>
          </a:xfrm>
          <a:prstGeom prst="rect">
            <a:avLst/>
          </a:prstGeom>
        </p:spPr>
      </p:pic>
      <p:sp>
        <p:nvSpPr>
          <p:cNvPr id="10" name="Text 6"/>
          <p:cNvSpPr/>
          <p:nvPr/>
        </p:nvSpPr>
        <p:spPr>
          <a:xfrm>
            <a:off x="6174923" y="4029968"/>
            <a:ext cx="5355297" cy="22602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Actores del Sistema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6174923" y="4331891"/>
            <a:ext cx="5355297" cy="912614"/>
          </a:xfrm>
          <a:prstGeom prst="rect">
            <a:avLst/>
          </a:prstGeom>
          <a:noFill/>
          <a:ln/>
        </p:spPr>
        <p:txBody>
          <a:bodyPr wrap="square" lIns="0" tIns="0" rIns="0" bIns="0" rtlCol="0" anchor="t">
            <a:normAutofit/>
          </a:bodyPr>
          <a:lstStyle/>
          <a:p>
            <a:pPr marL="223520" marR="0" lvl="0" indent="-223520" algn="l" defTabSz="914400" rtl="0" eaLnBrk="1" fontAlgn="auto" latinLnBrk="0" hangingPunct="1">
              <a:lnSpc>
                <a:spcPct val="125000"/>
              </a:lnSpc>
              <a:spcBef>
                <a:spcPts val="0"/>
              </a:spcBef>
              <a:spcAft>
                <a:spcPts val="0"/>
              </a:spcAft>
              <a:buClrTx/>
              <a:buSzPct val="100000"/>
              <a:buFontTx/>
              <a:buChar char="•"/>
              <a:tabLst/>
              <a:defRPr/>
            </a:pPr>
            <a:r>
              <a:rPr kumimoji="0" lang="en-US" sz="11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Inventarista:</a:t>
            </a:r>
            <a:r>
              <a:rPr kumimoji="0" lang="en-US" sz="11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Operador en campo. Registra espacios, elementos y novedades directamente en la aplicación móvil.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3520" marR="0" lvl="0" indent="-223520" algn="l" defTabSz="914400" rtl="0" eaLnBrk="1" fontAlgn="auto" latinLnBrk="0" hangingPunct="1">
              <a:lnSpc>
                <a:spcPct val="125000"/>
              </a:lnSpc>
              <a:spcBef>
                <a:spcPts val="0"/>
              </a:spcBef>
              <a:spcAft>
                <a:spcPts val="0"/>
              </a:spcAft>
              <a:buClrTx/>
              <a:buSzPct val="100000"/>
              <a:buFontTx/>
              <a:buChar char="•"/>
              <a:tabLst/>
              <a:defRPr/>
            </a:pPr>
            <a:r>
              <a:rPr kumimoji="0" lang="en-US" sz="11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Administrador:</a:t>
            </a:r>
            <a:r>
              <a:rPr kumimoji="0" lang="en-US" sz="11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Encargado de la supervisión general y distribución de los reportes terminados a los stakeholders.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8"/>
          <p:cNvSpPr/>
          <p:nvPr/>
        </p:nvSpPr>
        <p:spPr>
          <a:xfrm>
            <a:off x="661475" y="5648127"/>
            <a:ext cx="10868745" cy="746919"/>
          </a:xfrm>
          <a:prstGeom prst="roundRect">
            <a:avLst>
              <a:gd name="adj" fmla="val 2906"/>
            </a:avLst>
          </a:prstGeom>
          <a:solidFill>
            <a:srgbClr val="7B040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2" descr="preencoded.png"/>
          <p:cNvPicPr>
            <a:picLocks noChangeAspect="1"/>
          </p:cNvPicPr>
          <p:nvPr/>
        </p:nvPicPr>
        <p:blipFill>
          <a:blip r:embed="rId5"/>
          <a:stretch>
            <a:fillRect/>
          </a:stretch>
        </p:blipFill>
        <p:spPr>
          <a:xfrm>
            <a:off x="806132" y="5830292"/>
            <a:ext cx="180871" cy="144661"/>
          </a:xfrm>
          <a:prstGeom prst="rect">
            <a:avLst/>
          </a:prstGeom>
        </p:spPr>
      </p:pic>
      <p:sp>
        <p:nvSpPr>
          <p:cNvPr id="14" name="Text 9"/>
          <p:cNvSpPr/>
          <p:nvPr/>
        </p:nvSpPr>
        <p:spPr>
          <a:xfrm>
            <a:off x="1131661" y="5810845"/>
            <a:ext cx="10253902" cy="434181"/>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Mapeo en el Prototipo:</a:t>
            </a:r>
            <a:r>
              <a:rPr kumimoji="0" lang="en-US" sz="11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El widget </a:t>
            </a:r>
            <a:r>
              <a:rPr kumimoji="0" lang="en-US" sz="1100" b="0" i="0" u="none" strike="noStrike" kern="1200" cap="none" spc="0" normalizeH="0" baseline="0" noProof="0" dirty="0">
                <a:ln>
                  <a:noFill/>
                </a:ln>
                <a:solidFill>
                  <a:srgbClr val="FFFFFF"/>
                </a:solidFill>
                <a:effectLst/>
                <a:highlight>
                  <a:srgbClr val="313136"/>
                </a:highlight>
                <a:uLnTx/>
                <a:uFillTx/>
                <a:latin typeface="Consolas" pitchFamily="34" charset="0"/>
                <a:ea typeface="Consolas" pitchFamily="34" charset="-122"/>
                <a:cs typeface="Consolas" pitchFamily="34" charset="-120"/>
              </a:rPr>
              <a:t>widgetMenuInicio</a:t>
            </a:r>
            <a:r>
              <a:rPr kumimoji="0" lang="en-US" sz="11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simula el acceso directo del Inventarista a la lista de inmuebles. La pantalla </a:t>
            </a:r>
            <a:r>
              <a:rPr kumimoji="0" lang="en-US" sz="1100" b="0" i="0" u="none" strike="noStrike" kern="1200" cap="none" spc="0" normalizeH="0" baseline="0" noProof="0" dirty="0">
                <a:ln>
                  <a:noFill/>
                </a:ln>
                <a:solidFill>
                  <a:srgbClr val="FFFFFF"/>
                </a:solidFill>
                <a:effectLst/>
                <a:highlight>
                  <a:srgbClr val="313136"/>
                </a:highlight>
                <a:uLnTx/>
                <a:uFillTx/>
                <a:latin typeface="Consolas" pitchFamily="34" charset="0"/>
                <a:ea typeface="Consolas" pitchFamily="34" charset="-122"/>
                <a:cs typeface="Consolas" pitchFamily="34" charset="-120"/>
              </a:rPr>
              <a:t>enviar_inventario.dart</a:t>
            </a:r>
            <a:r>
              <a:rPr kumimoji="0" lang="en-US" sz="11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expone </a:t>
            </a:r>
            <a:r>
              <a:rPr kumimoji="0" lang="en-US" sz="1100" b="0" i="0" u="none" strike="noStrike" kern="1200" cap="none" spc="0" normalizeH="0" baseline="0" noProof="0" dirty="0">
                <a:ln>
                  <a:noFill/>
                </a:ln>
                <a:solidFill>
                  <a:srgbClr val="FFFFFF"/>
                </a:solidFill>
                <a:effectLst/>
                <a:highlight>
                  <a:srgbClr val="313136"/>
                </a:highlight>
                <a:uLnTx/>
                <a:uFillTx/>
                <a:latin typeface="Consolas" pitchFamily="34" charset="0"/>
                <a:ea typeface="Consolas" pitchFamily="34" charset="-122"/>
                <a:cs typeface="Consolas" pitchFamily="34" charset="-120"/>
              </a:rPr>
              <a:t>OutlinedButton</a:t>
            </a:r>
            <a:r>
              <a:rPr kumimoji="0" lang="en-US" sz="11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interactivos para definir a cuál stakeholder se despachará el inventario.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5C5AA-17F0-B0BA-B398-56A05EFD95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FE9E19C-61F5-5D09-56DC-C1CF194EE6F9}"/>
              </a:ext>
            </a:extLst>
          </p:cNvPr>
          <p:cNvSpPr/>
          <p:nvPr/>
        </p:nvSpPr>
        <p:spPr>
          <a:xfrm>
            <a:off x="661475" y="462855"/>
            <a:ext cx="1502928" cy="219869"/>
          </a:xfrm>
          <a:prstGeom prst="roundRect">
            <a:avLst>
              <a:gd name="adj" fmla="val 7898"/>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B561633-0930-C63C-A4BC-7E54283293E8}"/>
              </a:ext>
            </a:extLst>
          </p:cNvPr>
          <p:cNvSpPr/>
          <p:nvPr/>
        </p:nvSpPr>
        <p:spPr>
          <a:xfrm>
            <a:off x="748289" y="506214"/>
            <a:ext cx="1938884" cy="133152"/>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ACTORES DEL SISTEMA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1E8438D3-D045-2EDF-1EEA-E4B8EDE843EC}"/>
              </a:ext>
            </a:extLst>
          </p:cNvPr>
          <p:cNvSpPr/>
          <p:nvPr/>
        </p:nvSpPr>
        <p:spPr>
          <a:xfrm>
            <a:off x="661475" y="733326"/>
            <a:ext cx="10868745" cy="452239"/>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Stakeholders, Actores y Roles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5">
            <a:extLst>
              <a:ext uri="{FF2B5EF4-FFF2-40B4-BE49-F238E27FC236}">
                <a16:creationId xmlns:a16="http://schemas.microsoft.com/office/drawing/2014/main" id="{DE7DA073-1F3A-1192-72AD-B28F231D58BD}"/>
              </a:ext>
            </a:extLst>
          </p:cNvPr>
          <p:cNvSpPr txBox="1"/>
          <p:nvPr/>
        </p:nvSpPr>
        <p:spPr>
          <a:xfrm>
            <a:off x="975207" y="1585925"/>
            <a:ext cx="5120640" cy="4389120"/>
          </a:xfrm>
          <a:prstGeom prst="rect">
            <a:avLst/>
          </a:prstGeom>
          <a:noFill/>
        </p:spPr>
        <p:txBody>
          <a:bodyPr wrap="square">
            <a:spAutoFit/>
          </a:bodyPr>
          <a:lstStyle/>
          <a:p>
            <a:pPr>
              <a:defRPr sz="1100">
                <a:solidFill>
                  <a:srgbClr val="286E28"/>
                </a:solidFill>
                <a:latin typeface="Courier New"/>
              </a:defRPr>
            </a:pPr>
            <a:r>
              <a:rPr dirty="0"/>
              <a:t>// </a:t>
            </a:r>
            <a:r>
              <a:rPr dirty="0" err="1"/>
              <a:t>Selección</a:t>
            </a:r>
            <a:r>
              <a:rPr dirty="0"/>
              <a:t> </a:t>
            </a:r>
            <a:r>
              <a:rPr dirty="0" err="1"/>
              <a:t>interactiva</a:t>
            </a:r>
            <a:r>
              <a:rPr dirty="0"/>
              <a:t> de </a:t>
            </a:r>
            <a:r>
              <a:rPr dirty="0" err="1"/>
              <a:t>rol</a:t>
            </a:r>
            <a:r>
              <a:rPr dirty="0"/>
              <a:t> </a:t>
            </a:r>
            <a:r>
              <a:rPr dirty="0" err="1"/>
              <a:t>destino</a:t>
            </a:r>
            <a:r>
              <a:rPr dirty="0"/>
              <a:t> en </a:t>
            </a:r>
            <a:r>
              <a:rPr dirty="0" err="1"/>
              <a:t>enviar_inventario.dart</a:t>
            </a:r>
            <a:br>
              <a:rPr dirty="0"/>
            </a:br>
            <a:r>
              <a:rPr dirty="0"/>
              <a:t>Row(</a:t>
            </a:r>
            <a:br>
              <a:rPr dirty="0"/>
            </a:br>
            <a:r>
              <a:rPr dirty="0"/>
              <a:t>  children: ['Inquilino', '</a:t>
            </a:r>
            <a:r>
              <a:rPr dirty="0" err="1"/>
              <a:t>Propietario</a:t>
            </a:r>
            <a:r>
              <a:rPr dirty="0"/>
              <a:t>', '</a:t>
            </a:r>
            <a:r>
              <a:rPr dirty="0" err="1"/>
              <a:t>Asesor</a:t>
            </a:r>
            <a:r>
              <a:rPr dirty="0"/>
              <a:t>'].map((</a:t>
            </a:r>
            <a:r>
              <a:rPr dirty="0" err="1"/>
              <a:t>rol</a:t>
            </a:r>
            <a:r>
              <a:rPr dirty="0"/>
              <a:t>) {</a:t>
            </a:r>
            <a:br>
              <a:rPr dirty="0"/>
            </a:br>
            <a:r>
              <a:rPr dirty="0"/>
              <a:t>    final bool </a:t>
            </a:r>
            <a:r>
              <a:rPr dirty="0" err="1"/>
              <a:t>esSeleccionado</a:t>
            </a:r>
            <a:r>
              <a:rPr dirty="0"/>
              <a:t> = </a:t>
            </a:r>
            <a:r>
              <a:rPr dirty="0" err="1"/>
              <a:t>rolSeleccionado</a:t>
            </a:r>
            <a:r>
              <a:rPr dirty="0"/>
              <a:t> == </a:t>
            </a:r>
            <a:r>
              <a:rPr dirty="0" err="1"/>
              <a:t>rol</a:t>
            </a:r>
            <a:r>
              <a:rPr dirty="0"/>
              <a:t>;</a:t>
            </a:r>
            <a:br>
              <a:rPr dirty="0"/>
            </a:br>
            <a:r>
              <a:rPr dirty="0"/>
              <a:t>    return </a:t>
            </a:r>
            <a:r>
              <a:rPr dirty="0" err="1"/>
              <a:t>OutlinedButton</a:t>
            </a:r>
            <a:r>
              <a:rPr dirty="0"/>
              <a:t>(</a:t>
            </a:r>
            <a:br>
              <a:rPr dirty="0"/>
            </a:br>
            <a:r>
              <a:rPr dirty="0"/>
              <a:t>      style: </a:t>
            </a:r>
            <a:r>
              <a:rPr dirty="0" err="1"/>
              <a:t>OutlinedButton.styleFrom</a:t>
            </a:r>
            <a:r>
              <a:rPr dirty="0"/>
              <a:t>(</a:t>
            </a:r>
            <a:br>
              <a:rPr dirty="0"/>
            </a:br>
            <a:r>
              <a:rPr dirty="0"/>
              <a:t>        </a:t>
            </a:r>
            <a:r>
              <a:rPr dirty="0" err="1"/>
              <a:t>backgroundColor</a:t>
            </a:r>
            <a:r>
              <a:rPr dirty="0"/>
              <a:t>: </a:t>
            </a:r>
            <a:r>
              <a:rPr dirty="0" err="1"/>
              <a:t>esSeleccionado</a:t>
            </a:r>
            <a:r>
              <a:rPr dirty="0"/>
              <a:t> </a:t>
            </a:r>
            <a:br>
              <a:rPr dirty="0"/>
            </a:br>
            <a:r>
              <a:rPr dirty="0"/>
              <a:t>            ? const </a:t>
            </a:r>
            <a:r>
              <a:rPr dirty="0" err="1"/>
              <a:t>Color.fromARGB</a:t>
            </a:r>
            <a:r>
              <a:rPr dirty="0"/>
              <a:t>(255, 2, 0, 95)</a:t>
            </a:r>
            <a:br>
              <a:rPr dirty="0"/>
            </a:br>
            <a:r>
              <a:rPr dirty="0"/>
              <a:t>            : </a:t>
            </a:r>
            <a:r>
              <a:rPr dirty="0" err="1"/>
              <a:t>Colors.white</a:t>
            </a:r>
            <a:r>
              <a:rPr dirty="0"/>
              <a:t>,</a:t>
            </a:r>
            <a:br>
              <a:rPr dirty="0"/>
            </a:br>
            <a:r>
              <a:rPr dirty="0"/>
              <a:t>      ),</a:t>
            </a:r>
            <a:br>
              <a:rPr dirty="0"/>
            </a:br>
            <a:r>
              <a:rPr dirty="0"/>
              <a:t>      </a:t>
            </a:r>
            <a:r>
              <a:rPr dirty="0" err="1"/>
              <a:t>onPressed</a:t>
            </a:r>
            <a:r>
              <a:rPr dirty="0"/>
              <a:t>: () {</a:t>
            </a:r>
            <a:br>
              <a:rPr dirty="0"/>
            </a:br>
            <a:r>
              <a:rPr dirty="0"/>
              <a:t>        </a:t>
            </a:r>
            <a:r>
              <a:rPr dirty="0" err="1"/>
              <a:t>setState</a:t>
            </a:r>
            <a:r>
              <a:rPr dirty="0"/>
              <a:t>(() { </a:t>
            </a:r>
            <a:r>
              <a:rPr dirty="0" err="1"/>
              <a:t>rolSeleccionado</a:t>
            </a:r>
            <a:r>
              <a:rPr dirty="0"/>
              <a:t> = </a:t>
            </a:r>
            <a:r>
              <a:rPr dirty="0" err="1"/>
              <a:t>rol</a:t>
            </a:r>
            <a:r>
              <a:rPr dirty="0"/>
              <a:t>; });</a:t>
            </a:r>
            <a:br>
              <a:rPr dirty="0"/>
            </a:br>
            <a:r>
              <a:rPr dirty="0"/>
              <a:t>      },</a:t>
            </a:r>
            <a:br>
              <a:rPr dirty="0"/>
            </a:br>
            <a:r>
              <a:rPr dirty="0"/>
              <a:t>      child: Text(</a:t>
            </a:r>
            <a:r>
              <a:rPr dirty="0" err="1"/>
              <a:t>rol</a:t>
            </a:r>
            <a:r>
              <a:rPr dirty="0"/>
              <a:t>),</a:t>
            </a:r>
            <a:br>
              <a:rPr dirty="0"/>
            </a:br>
            <a:r>
              <a:rPr dirty="0"/>
              <a:t>    );</a:t>
            </a:r>
            <a:br>
              <a:rPr dirty="0"/>
            </a:br>
            <a:r>
              <a:rPr dirty="0"/>
              <a:t>  }).</a:t>
            </a:r>
            <a:r>
              <a:rPr dirty="0" err="1"/>
              <a:t>toList</a:t>
            </a:r>
            <a:r>
              <a:rPr dirty="0"/>
              <a:t>(),</a:t>
            </a:r>
            <a:br>
              <a:rPr dirty="0"/>
            </a:br>
            <a:r>
              <a:rPr dirty="0"/>
              <a:t>)</a:t>
            </a:r>
          </a:p>
        </p:txBody>
      </p:sp>
    </p:spTree>
    <p:extLst>
      <p:ext uri="{BB962C8B-B14F-4D97-AF65-F5344CB8AC3E}">
        <p14:creationId xmlns:p14="http://schemas.microsoft.com/office/powerpoint/2010/main" val="1325435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1079996"/>
            <a:ext cx="704535" cy="215305"/>
          </a:xfrm>
          <a:prstGeom prst="roundRect">
            <a:avLst>
              <a:gd name="adj" fmla="val 7901"/>
            </a:avLst>
          </a:prstGeom>
          <a:noFill/>
          <a:ln w="6350">
            <a:solidFill>
              <a:srgbClr val="FDC4C4"/>
            </a:solidFill>
            <a:prstDash val="solid"/>
          </a:ln>
        </p:spPr>
        <p:txBody>
          <a:bodyPr/>
          <a:lstStyle/>
          <a:p>
            <a:endParaRPr lang="es-CO"/>
          </a:p>
        </p:txBody>
      </p:sp>
      <p:sp>
        <p:nvSpPr>
          <p:cNvPr id="3" name="Text 1"/>
          <p:cNvSpPr/>
          <p:nvPr/>
        </p:nvSpPr>
        <p:spPr>
          <a:xfrm>
            <a:off x="746503" y="1122462"/>
            <a:ext cx="1144063" cy="130373"/>
          </a:xfrm>
          <a:prstGeom prst="rect">
            <a:avLst/>
          </a:prstGeom>
          <a:noFill/>
          <a:ln/>
        </p:spPr>
        <p:txBody>
          <a:bodyPr wrap="none" lIns="0" tIns="0" rIns="0" bIns="0" rtlCol="0" anchor="t"/>
          <a:lstStyle/>
          <a:p>
            <a:pPr marL="0" indent="0" algn="l">
              <a:lnSpc>
                <a:spcPct val="96000"/>
              </a:lnSpc>
              <a:buNone/>
            </a:pPr>
            <a:r>
              <a:rPr lang="en-US" sz="850" dirty="0">
                <a:solidFill>
                  <a:srgbClr val="FDC4C4"/>
                </a:solidFill>
                <a:latin typeface="Inter" pitchFamily="34" charset="0"/>
                <a:ea typeface="Inter" pitchFamily="34" charset="-122"/>
                <a:cs typeface="Inter" pitchFamily="34" charset="-120"/>
              </a:rPr>
              <a:t>ALCANCE</a:t>
            </a:r>
            <a:endParaRPr lang="en-US" sz="850" dirty="0"/>
          </a:p>
        </p:txBody>
      </p:sp>
      <p:sp>
        <p:nvSpPr>
          <p:cNvPr id="4" name="Text 2"/>
          <p:cNvSpPr/>
          <p:nvPr/>
        </p:nvSpPr>
        <p:spPr>
          <a:xfrm>
            <a:off x="661475" y="1337766"/>
            <a:ext cx="10868745" cy="443012"/>
          </a:xfrm>
          <a:prstGeom prst="rect">
            <a:avLst/>
          </a:prstGeom>
          <a:noFill/>
          <a:ln/>
        </p:spPr>
        <p:txBody>
          <a:bodyPr wrap="none" lIns="0" tIns="0" rIns="0" bIns="0" rtlCol="0" anchor="t"/>
          <a:lstStyle/>
          <a:p>
            <a:pPr marL="0" indent="0" algn="l">
              <a:lnSpc>
                <a:spcPct val="104000"/>
              </a:lnSpc>
              <a:buNone/>
            </a:pPr>
            <a:r>
              <a:rPr lang="en-US" sz="2750" dirty="0">
                <a:solidFill>
                  <a:srgbClr val="EFD5FA"/>
                </a:solidFill>
                <a:latin typeface="Instrument Sans Medium" pitchFamily="34" charset="0"/>
                <a:ea typeface="Instrument Sans Medium" pitchFamily="34" charset="-122"/>
                <a:cs typeface="Instrument Sans Medium" pitchFamily="34" charset="-120"/>
              </a:rPr>
              <a:t>Límites del Prototipo</a:t>
            </a:r>
            <a:endParaRPr lang="en-US" sz="2750" dirty="0"/>
          </a:p>
        </p:txBody>
      </p:sp>
      <p:pic>
        <p:nvPicPr>
          <p:cNvPr id="5" name="Image 0" descr="preencoded.png"/>
          <p:cNvPicPr>
            <a:picLocks noChangeAspect="1"/>
          </p:cNvPicPr>
          <p:nvPr/>
        </p:nvPicPr>
        <p:blipFill>
          <a:blip r:embed="rId3"/>
          <a:stretch>
            <a:fillRect/>
          </a:stretch>
        </p:blipFill>
        <p:spPr>
          <a:xfrm>
            <a:off x="1529419" y="2383532"/>
            <a:ext cx="5207663" cy="2951063"/>
          </a:xfrm>
          <a:prstGeom prst="rect">
            <a:avLst/>
          </a:prstGeom>
        </p:spPr>
      </p:pic>
      <p:sp>
        <p:nvSpPr>
          <p:cNvPr id="6" name="Text 3"/>
          <p:cNvSpPr/>
          <p:nvPr/>
        </p:nvSpPr>
        <p:spPr>
          <a:xfrm>
            <a:off x="7957244" y="2046486"/>
            <a:ext cx="3579227" cy="22780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Noto Color Emoji" pitchFamily="34" charset="0"/>
                <a:ea typeface="Noto Color Emoji" pitchFamily="34" charset="-122"/>
                <a:cs typeface="Noto Color Emoji" pitchFamily="34" charset="-120"/>
              </a:rPr>
              <a:t>✅</a:t>
            </a:r>
            <a:r>
              <a:rPr lang="en-US" sz="1350" dirty="0">
                <a:solidFill>
                  <a:srgbClr val="EFD5FA"/>
                </a:solidFill>
                <a:latin typeface="Instrument Sans Medium" pitchFamily="34" charset="0"/>
                <a:ea typeface="Instrument Sans Medium" pitchFamily="34" charset="-122"/>
                <a:cs typeface="Instrument Sans Medium" pitchFamily="34" charset="-120"/>
              </a:rPr>
              <a:t> Componentes Incluidos (Fase Actual)</a:t>
            </a:r>
            <a:endParaRPr lang="en-US" sz="1350" dirty="0"/>
          </a:p>
        </p:txBody>
      </p:sp>
      <p:sp>
        <p:nvSpPr>
          <p:cNvPr id="7" name="Text 4"/>
          <p:cNvSpPr/>
          <p:nvPr/>
        </p:nvSpPr>
        <p:spPr>
          <a:xfrm>
            <a:off x="7957244" y="2380555"/>
            <a:ext cx="3579227" cy="1699121"/>
          </a:xfrm>
          <a:prstGeom prst="rect">
            <a:avLst/>
          </a:prstGeom>
          <a:noFill/>
          <a:ln/>
        </p:spPr>
        <p:txBody>
          <a:bodyPr wrap="square" lIns="0" tIns="0" rIns="0" bIns="0" rtlCol="0" anchor="t">
            <a:normAutofit/>
          </a:bodyPr>
          <a:lstStyle/>
          <a:p>
            <a:pPr marL="223520" indent="-223520" algn="l">
              <a:lnSpc>
                <a:spcPct val="117000"/>
              </a:lnSpc>
              <a:buSzPct val="100000"/>
              <a:buChar char="•"/>
            </a:pPr>
            <a:r>
              <a:rPr lang="en-US" sz="1100" dirty="0">
                <a:solidFill>
                  <a:srgbClr val="C7CDD6"/>
                </a:solidFill>
                <a:latin typeface="Inter" pitchFamily="34" charset="0"/>
                <a:ea typeface="Inter" pitchFamily="34" charset="-122"/>
                <a:cs typeface="Inter" pitchFamily="34" charset="-120"/>
              </a:rPr>
              <a:t>Interfaz móvil multiplataforma completa (Android / iOS)</a:t>
            </a:r>
            <a:endParaRPr lang="en-US" sz="1100" dirty="0"/>
          </a:p>
          <a:p>
            <a:pPr marL="223520" indent="-223520" algn="l">
              <a:lnSpc>
                <a:spcPct val="117000"/>
              </a:lnSpc>
              <a:buSzPct val="100000"/>
              <a:buChar char="•"/>
            </a:pPr>
            <a:r>
              <a:rPr lang="en-US" sz="1100" dirty="0">
                <a:solidFill>
                  <a:srgbClr val="C7CDD6"/>
                </a:solidFill>
                <a:latin typeface="Inter" pitchFamily="34" charset="0"/>
                <a:ea typeface="Inter" pitchFamily="34" charset="-122"/>
                <a:cs typeface="Inter" pitchFamily="34" charset="-120"/>
              </a:rPr>
              <a:t>Formulario de captura estructurado por zonas críticas fijas</a:t>
            </a:r>
            <a:endParaRPr lang="en-US" sz="1100" dirty="0"/>
          </a:p>
          <a:p>
            <a:pPr marL="223520" indent="-223520" algn="l">
              <a:lnSpc>
                <a:spcPct val="117000"/>
              </a:lnSpc>
              <a:buSzPct val="100000"/>
              <a:buChar char="•"/>
            </a:pPr>
            <a:r>
              <a:rPr lang="en-US" sz="1100" dirty="0">
                <a:solidFill>
                  <a:srgbClr val="C7CDD6"/>
                </a:solidFill>
                <a:latin typeface="Inter" pitchFamily="34" charset="0"/>
                <a:ea typeface="Inter" pitchFamily="34" charset="-122"/>
                <a:cs typeface="Inter" pitchFamily="34" charset="-120"/>
              </a:rPr>
              <a:t>Flujo controlado de navegación y estados en memoria</a:t>
            </a:r>
            <a:endParaRPr lang="en-US" sz="1100" dirty="0"/>
          </a:p>
          <a:p>
            <a:pPr marL="223520" indent="-223520" algn="l">
              <a:lnSpc>
                <a:spcPct val="117000"/>
              </a:lnSpc>
              <a:buSzPct val="100000"/>
              <a:buChar char="•"/>
            </a:pPr>
            <a:r>
              <a:rPr lang="en-US" sz="1100" dirty="0">
                <a:solidFill>
                  <a:srgbClr val="C7CDD6"/>
                </a:solidFill>
                <a:latin typeface="Inter" pitchFamily="34" charset="0"/>
                <a:ea typeface="Inter" pitchFamily="34" charset="-122"/>
                <a:cs typeface="Inter" pitchFamily="34" charset="-120"/>
              </a:rPr>
              <a:t>Notificaciones en tiempo real mediante snackbars nativos</a:t>
            </a:r>
            <a:endParaRPr lang="en-US" sz="1100" dirty="0"/>
          </a:p>
        </p:txBody>
      </p:sp>
      <p:sp>
        <p:nvSpPr>
          <p:cNvPr id="8" name="Text 5"/>
          <p:cNvSpPr/>
          <p:nvPr/>
        </p:nvSpPr>
        <p:spPr>
          <a:xfrm>
            <a:off x="7957244" y="4185940"/>
            <a:ext cx="3579227" cy="22780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Noto Color Emoji" pitchFamily="34" charset="0"/>
                <a:ea typeface="Noto Color Emoji" pitchFamily="34" charset="-122"/>
                <a:cs typeface="Noto Color Emoji" pitchFamily="34" charset="-120"/>
              </a:rPr>
              <a:t>🔜</a:t>
            </a:r>
            <a:r>
              <a:rPr lang="en-US" sz="1350" dirty="0">
                <a:solidFill>
                  <a:srgbClr val="EFD5FA"/>
                </a:solidFill>
                <a:latin typeface="Instrument Sans Medium" pitchFamily="34" charset="0"/>
                <a:ea typeface="Instrument Sans Medium" pitchFamily="34" charset="-122"/>
                <a:cs typeface="Instrument Sans Medium" pitchFamily="34" charset="-120"/>
              </a:rPr>
              <a:t> Exclusiones Explícitas (Próximas Fases)</a:t>
            </a:r>
            <a:endParaRPr lang="en-US" sz="1350" dirty="0"/>
          </a:p>
        </p:txBody>
      </p:sp>
      <p:sp>
        <p:nvSpPr>
          <p:cNvPr id="9" name="Text 6"/>
          <p:cNvSpPr/>
          <p:nvPr/>
        </p:nvSpPr>
        <p:spPr>
          <a:xfrm>
            <a:off x="7957244" y="4520009"/>
            <a:ext cx="3579227" cy="669727"/>
          </a:xfrm>
          <a:prstGeom prst="rect">
            <a:avLst/>
          </a:prstGeom>
          <a:noFill/>
          <a:ln/>
        </p:spPr>
        <p:txBody>
          <a:bodyPr wrap="square" lIns="0" tIns="0" rIns="0" bIns="0" rtlCol="0" anchor="t">
            <a:normAutofit/>
          </a:bodyPr>
          <a:lstStyle/>
          <a:p>
            <a:pPr marL="223520" indent="-223520" algn="l">
              <a:lnSpc>
                <a:spcPct val="117000"/>
              </a:lnSpc>
              <a:buSzPct val="100000"/>
              <a:buChar char="•"/>
            </a:pPr>
            <a:r>
              <a:rPr lang="en-US" sz="1100" dirty="0">
                <a:solidFill>
                  <a:srgbClr val="C7CDD6"/>
                </a:solidFill>
                <a:latin typeface="Inter" pitchFamily="34" charset="0"/>
                <a:ea typeface="Inter" pitchFamily="34" charset="-122"/>
                <a:cs typeface="Inter" pitchFamily="34" charset="-120"/>
              </a:rPr>
              <a:t>Aplicación de escritorio o plataforma web</a:t>
            </a:r>
            <a:endParaRPr lang="en-US" sz="1100" dirty="0"/>
          </a:p>
          <a:p>
            <a:pPr marL="223520" indent="-223520" algn="l">
              <a:lnSpc>
                <a:spcPct val="117000"/>
              </a:lnSpc>
              <a:buSzPct val="100000"/>
              <a:buChar char="•"/>
            </a:pPr>
            <a:r>
              <a:rPr lang="en-US" sz="1100" dirty="0">
                <a:solidFill>
                  <a:srgbClr val="C7CDD6"/>
                </a:solidFill>
                <a:latin typeface="Inter" pitchFamily="34" charset="0"/>
                <a:ea typeface="Inter" pitchFamily="34" charset="-122"/>
                <a:cs typeface="Inter" pitchFamily="34" charset="-120"/>
              </a:rPr>
              <a:t>Geolocalización o mapas interactivos integrados</a:t>
            </a:r>
            <a:endParaRPr lang="en-US" sz="1100" dirty="0"/>
          </a:p>
          <a:p>
            <a:pPr marL="223520" indent="-223520" algn="l">
              <a:lnSpc>
                <a:spcPct val="117000"/>
              </a:lnSpc>
              <a:buSzPct val="100000"/>
              <a:buChar char="•"/>
            </a:pPr>
            <a:r>
              <a:rPr lang="en-US" sz="1100" dirty="0">
                <a:solidFill>
                  <a:srgbClr val="C7CDD6"/>
                </a:solidFill>
                <a:latin typeface="Inter" pitchFamily="34" charset="0"/>
                <a:ea typeface="Inter" pitchFamily="34" charset="-122"/>
                <a:cs typeface="Inter" pitchFamily="34" charset="-120"/>
              </a:rPr>
              <a:t>Persistencia física local o sincronización offline</a:t>
            </a:r>
            <a:endParaRPr lang="en-US" sz="1100" dirty="0"/>
          </a:p>
        </p:txBody>
      </p:sp>
      <p:sp>
        <p:nvSpPr>
          <p:cNvPr id="10" name="Text 7"/>
          <p:cNvSpPr/>
          <p:nvPr/>
        </p:nvSpPr>
        <p:spPr>
          <a:xfrm>
            <a:off x="7957244" y="5285383"/>
            <a:ext cx="3579227"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C7CDD6"/>
                </a:solidFill>
                <a:latin typeface="Inter" pitchFamily="34" charset="0"/>
                <a:ea typeface="Inter" pitchFamily="34" charset="-122"/>
                <a:cs typeface="Inter" pitchFamily="34" charset="-120"/>
              </a:rPr>
              <a:t>La sincronización con </a:t>
            </a:r>
            <a:r>
              <a:rPr lang="en-US" sz="1100" b="1" dirty="0">
                <a:solidFill>
                  <a:srgbClr val="C7CDD6"/>
                </a:solidFill>
                <a:latin typeface="Inter Bold" pitchFamily="34" charset="0"/>
                <a:ea typeface="Inter Bold" pitchFamily="34" charset="-122"/>
                <a:cs typeface="Inter Bold" pitchFamily="34" charset="-120"/>
              </a:rPr>
              <a:t>Firebase Firestore</a:t>
            </a:r>
            <a:r>
              <a:rPr lang="en-US" sz="1100" dirty="0">
                <a:solidFill>
                  <a:srgbClr val="C7CDD6"/>
                </a:solidFill>
                <a:latin typeface="Inter" pitchFamily="34" charset="0"/>
                <a:ea typeface="Inter" pitchFamily="34" charset="-122"/>
                <a:cs typeface="Inter" pitchFamily="34" charset="-120"/>
              </a:rPr>
              <a:t> está planificada en la arquitectura meta del producto.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1530B-86D9-02F6-7333-96247FC05E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F56531-BC9D-4817-2391-73F4B60723BC}"/>
              </a:ext>
            </a:extLst>
          </p:cNvPr>
          <p:cNvSpPr/>
          <p:nvPr/>
        </p:nvSpPr>
        <p:spPr>
          <a:xfrm>
            <a:off x="661475" y="1079996"/>
            <a:ext cx="704535" cy="215305"/>
          </a:xfrm>
          <a:prstGeom prst="roundRect">
            <a:avLst>
              <a:gd name="adj" fmla="val 7901"/>
            </a:avLst>
          </a:prstGeom>
          <a:noFill/>
          <a:ln w="6350">
            <a:solidFill>
              <a:srgbClr val="FDC4C4"/>
            </a:solidFill>
            <a:prstDash val="solid"/>
          </a:ln>
        </p:spPr>
        <p:txBody>
          <a:bodyPr/>
          <a:lstStyle/>
          <a:p>
            <a:endParaRPr lang="es-CO"/>
          </a:p>
        </p:txBody>
      </p:sp>
      <p:sp>
        <p:nvSpPr>
          <p:cNvPr id="3" name="Text 1">
            <a:extLst>
              <a:ext uri="{FF2B5EF4-FFF2-40B4-BE49-F238E27FC236}">
                <a16:creationId xmlns:a16="http://schemas.microsoft.com/office/drawing/2014/main" id="{B90344FA-65AE-2618-60DF-73DCDF333806}"/>
              </a:ext>
            </a:extLst>
          </p:cNvPr>
          <p:cNvSpPr/>
          <p:nvPr/>
        </p:nvSpPr>
        <p:spPr>
          <a:xfrm>
            <a:off x="746503" y="1122462"/>
            <a:ext cx="1144063" cy="130373"/>
          </a:xfrm>
          <a:prstGeom prst="rect">
            <a:avLst/>
          </a:prstGeom>
          <a:noFill/>
          <a:ln/>
        </p:spPr>
        <p:txBody>
          <a:bodyPr wrap="none" lIns="0" tIns="0" rIns="0" bIns="0" rtlCol="0" anchor="t"/>
          <a:lstStyle/>
          <a:p>
            <a:pPr marL="0" indent="0" algn="l">
              <a:lnSpc>
                <a:spcPct val="96000"/>
              </a:lnSpc>
              <a:buNone/>
            </a:pPr>
            <a:r>
              <a:rPr lang="en-US" sz="850" dirty="0">
                <a:solidFill>
                  <a:srgbClr val="FDC4C4"/>
                </a:solidFill>
                <a:latin typeface="Inter" pitchFamily="34" charset="0"/>
                <a:ea typeface="Inter" pitchFamily="34" charset="-122"/>
                <a:cs typeface="Inter" pitchFamily="34" charset="-120"/>
              </a:rPr>
              <a:t>ALCANCE</a:t>
            </a:r>
            <a:endParaRPr lang="en-US" sz="850" dirty="0"/>
          </a:p>
        </p:txBody>
      </p:sp>
      <p:sp>
        <p:nvSpPr>
          <p:cNvPr id="4" name="Text 2">
            <a:extLst>
              <a:ext uri="{FF2B5EF4-FFF2-40B4-BE49-F238E27FC236}">
                <a16:creationId xmlns:a16="http://schemas.microsoft.com/office/drawing/2014/main" id="{52197C77-662A-F75F-6565-8FDEC77DF536}"/>
              </a:ext>
            </a:extLst>
          </p:cNvPr>
          <p:cNvSpPr/>
          <p:nvPr/>
        </p:nvSpPr>
        <p:spPr>
          <a:xfrm>
            <a:off x="661475" y="1337766"/>
            <a:ext cx="10868745" cy="443012"/>
          </a:xfrm>
          <a:prstGeom prst="rect">
            <a:avLst/>
          </a:prstGeom>
          <a:noFill/>
          <a:ln/>
        </p:spPr>
        <p:txBody>
          <a:bodyPr wrap="none" lIns="0" tIns="0" rIns="0" bIns="0" rtlCol="0" anchor="t"/>
          <a:lstStyle/>
          <a:p>
            <a:pPr marL="0" indent="0" algn="l">
              <a:lnSpc>
                <a:spcPct val="104000"/>
              </a:lnSpc>
              <a:buNone/>
            </a:pPr>
            <a:r>
              <a:rPr lang="en-US" sz="2750" dirty="0">
                <a:solidFill>
                  <a:srgbClr val="EFD5FA"/>
                </a:solidFill>
                <a:latin typeface="Instrument Sans Medium" pitchFamily="34" charset="0"/>
                <a:ea typeface="Instrument Sans Medium" pitchFamily="34" charset="-122"/>
                <a:cs typeface="Instrument Sans Medium" pitchFamily="34" charset="-120"/>
              </a:rPr>
              <a:t>Límites del Prototipo</a:t>
            </a:r>
            <a:endParaRPr lang="en-US" sz="2750" dirty="0"/>
          </a:p>
        </p:txBody>
      </p:sp>
      <p:sp>
        <p:nvSpPr>
          <p:cNvPr id="12" name="TextBox 5">
            <a:extLst>
              <a:ext uri="{FF2B5EF4-FFF2-40B4-BE49-F238E27FC236}">
                <a16:creationId xmlns:a16="http://schemas.microsoft.com/office/drawing/2014/main" id="{1F336AAA-6706-A212-C65A-9630FED5C611}"/>
              </a:ext>
            </a:extLst>
          </p:cNvPr>
          <p:cNvSpPr txBox="1"/>
          <p:nvPr/>
        </p:nvSpPr>
        <p:spPr>
          <a:xfrm>
            <a:off x="661475" y="1874022"/>
            <a:ext cx="5120640" cy="4389120"/>
          </a:xfrm>
          <a:prstGeom prst="rect">
            <a:avLst/>
          </a:prstGeom>
          <a:noFill/>
        </p:spPr>
        <p:txBody>
          <a:bodyPr wrap="square">
            <a:spAutoFit/>
          </a:bodyPr>
          <a:lstStyle/>
          <a:p>
            <a:pPr>
              <a:defRPr sz="1100">
                <a:solidFill>
                  <a:srgbClr val="286E28"/>
                </a:solidFill>
                <a:latin typeface="Courier New"/>
              </a:defRPr>
            </a:pPr>
            <a:r>
              <a:rPr dirty="0"/>
              <a:t>// </a:t>
            </a:r>
            <a:r>
              <a:rPr dirty="0" err="1"/>
              <a:t>Botones</a:t>
            </a:r>
            <a:r>
              <a:rPr dirty="0"/>
              <a:t> de </a:t>
            </a:r>
            <a:r>
              <a:rPr dirty="0" err="1"/>
              <a:t>evidencia</a:t>
            </a:r>
            <a:r>
              <a:rPr dirty="0"/>
              <a:t> visual </a:t>
            </a:r>
            <a:r>
              <a:rPr dirty="0" err="1"/>
              <a:t>estáticos</a:t>
            </a:r>
            <a:r>
              <a:rPr dirty="0"/>
              <a:t> en </a:t>
            </a:r>
            <a:r>
              <a:rPr dirty="0" err="1"/>
              <a:t>crear</a:t>
            </a:r>
            <a:r>
              <a:rPr dirty="0"/>
              <a:t>_-</a:t>
            </a:r>
            <a:r>
              <a:rPr dirty="0" err="1"/>
              <a:t>inventario.dart</a:t>
            </a:r>
            <a:br>
              <a:rPr dirty="0"/>
            </a:br>
            <a:r>
              <a:rPr dirty="0"/>
              <a:t>const Text(</a:t>
            </a:r>
            <a:br>
              <a:rPr dirty="0"/>
            </a:br>
            <a:r>
              <a:rPr dirty="0"/>
              <a:t>  'Fotos de </a:t>
            </a:r>
            <a:r>
              <a:rPr dirty="0" err="1"/>
              <a:t>evidencia</a:t>
            </a:r>
            <a:r>
              <a:rPr dirty="0"/>
              <a:t>',</a:t>
            </a:r>
            <a:br>
              <a:rPr dirty="0"/>
            </a:br>
            <a:r>
              <a:rPr dirty="0"/>
              <a:t>  style: </a:t>
            </a:r>
            <a:r>
              <a:rPr dirty="0" err="1"/>
              <a:t>TextStyle</a:t>
            </a:r>
            <a:r>
              <a:rPr dirty="0"/>
              <a:t>(</a:t>
            </a:r>
            <a:r>
              <a:rPr dirty="0" err="1"/>
              <a:t>fontSize</a:t>
            </a:r>
            <a:r>
              <a:rPr dirty="0"/>
              <a:t>: 14),</a:t>
            </a:r>
            <a:br>
              <a:rPr dirty="0"/>
            </a:br>
            <a:r>
              <a:rPr dirty="0"/>
              <a:t>),</a:t>
            </a:r>
            <a:br>
              <a:rPr dirty="0"/>
            </a:br>
            <a:r>
              <a:rPr dirty="0"/>
              <a:t>const </a:t>
            </a:r>
            <a:r>
              <a:rPr dirty="0" err="1"/>
              <a:t>SizedBox</a:t>
            </a:r>
            <a:r>
              <a:rPr dirty="0"/>
              <a:t>(height: 16),</a:t>
            </a:r>
            <a:br>
              <a:rPr dirty="0"/>
            </a:br>
            <a:r>
              <a:rPr dirty="0" err="1"/>
              <a:t>FloatingActionButton</a:t>
            </a:r>
            <a:r>
              <a:rPr dirty="0"/>
              <a:t>(</a:t>
            </a:r>
            <a:br>
              <a:rPr dirty="0"/>
            </a:br>
            <a:r>
              <a:rPr dirty="0"/>
              <a:t>  </a:t>
            </a:r>
            <a:r>
              <a:rPr dirty="0" err="1"/>
              <a:t>onPressed</a:t>
            </a:r>
            <a:r>
              <a:rPr dirty="0"/>
              <a:t>: () {</a:t>
            </a:r>
            <a:br>
              <a:rPr dirty="0"/>
            </a:br>
            <a:r>
              <a:rPr dirty="0"/>
              <a:t>    // Acción mock/visual para '</a:t>
            </a:r>
            <a:r>
              <a:rPr dirty="0" err="1"/>
              <a:t>Agregar</a:t>
            </a:r>
            <a:r>
              <a:rPr dirty="0"/>
              <a:t> </a:t>
            </a:r>
            <a:r>
              <a:rPr dirty="0" err="1"/>
              <a:t>fotos'</a:t>
            </a:r>
            <a:br>
              <a:rPr dirty="0"/>
            </a:br>
            <a:r>
              <a:rPr dirty="0"/>
              <a:t>  },</a:t>
            </a:r>
            <a:br>
              <a:rPr dirty="0"/>
            </a:br>
            <a:r>
              <a:rPr dirty="0"/>
              <a:t>  child: const Text('</a:t>
            </a:r>
            <a:r>
              <a:rPr dirty="0" err="1"/>
              <a:t>Agregar</a:t>
            </a:r>
            <a:r>
              <a:rPr dirty="0"/>
              <a:t> </a:t>
            </a:r>
            <a:r>
              <a:rPr dirty="0" err="1"/>
              <a:t>fotos'</a:t>
            </a:r>
            <a:r>
              <a:rPr dirty="0"/>
              <a:t>),</a:t>
            </a:r>
            <a:br>
              <a:rPr dirty="0"/>
            </a:br>
            <a:r>
              <a:rPr dirty="0"/>
              <a:t>)</a:t>
            </a:r>
          </a:p>
        </p:txBody>
      </p:sp>
    </p:spTree>
    <p:extLst>
      <p:ext uri="{BB962C8B-B14F-4D97-AF65-F5344CB8AC3E}">
        <p14:creationId xmlns:p14="http://schemas.microsoft.com/office/powerpoint/2010/main" val="1912456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501948"/>
            <a:ext cx="1314913" cy="227806"/>
          </a:xfrm>
          <a:prstGeom prst="roundRect">
            <a:avLst>
              <a:gd name="adj" fmla="val 7895"/>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p:cNvSpPr/>
          <p:nvPr/>
        </p:nvSpPr>
        <p:spPr>
          <a:xfrm>
            <a:off x="5323250" y="546894"/>
            <a:ext cx="1744718" cy="137914"/>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FUNCIONALIDADES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5233360" y="784027"/>
            <a:ext cx="6296860" cy="468412"/>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9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Funcionalidades del Sistema</a:t>
            </a:r>
            <a:endParaRPr kumimoji="0" lang="en-US" sz="2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5233360" y="1456134"/>
            <a:ext cx="6296860" cy="457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7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Los cuatro flujos operativos core cubren el ciclo completo del inventario, desde el ingreso del operador hasta el despacho digital del reporte finalizado.</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1" descr="preencoded.png"/>
          <p:cNvPicPr>
            <a:picLocks noChangeAspect="1"/>
          </p:cNvPicPr>
          <p:nvPr/>
        </p:nvPicPr>
        <p:blipFill>
          <a:blip r:embed="rId4"/>
          <a:stretch>
            <a:fillRect/>
          </a:stretch>
        </p:blipFill>
        <p:spPr>
          <a:xfrm>
            <a:off x="5233360" y="2066131"/>
            <a:ext cx="749380" cy="1072455"/>
          </a:xfrm>
          <a:prstGeom prst="rect">
            <a:avLst/>
          </a:prstGeom>
        </p:spPr>
      </p:pic>
      <p:sp>
        <p:nvSpPr>
          <p:cNvPr id="8" name="Text 4"/>
          <p:cNvSpPr/>
          <p:nvPr/>
        </p:nvSpPr>
        <p:spPr>
          <a:xfrm>
            <a:off x="6118568" y="2215952"/>
            <a:ext cx="5411652" cy="23415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Autenticación Visual</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6118568" y="2531566"/>
            <a:ext cx="5411652" cy="457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7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Interfaz de credenciales para contención del flujo inicial. Controla el acceso del Inventarista al sistema mediante validación de correo y contraseña.</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2" descr="preencoded.png"/>
          <p:cNvPicPr>
            <a:picLocks noChangeAspect="1"/>
          </p:cNvPicPr>
          <p:nvPr/>
        </p:nvPicPr>
        <p:blipFill>
          <a:blip r:embed="rId5"/>
          <a:stretch>
            <a:fillRect/>
          </a:stretch>
        </p:blipFill>
        <p:spPr>
          <a:xfrm>
            <a:off x="5233360" y="3138587"/>
            <a:ext cx="749380" cy="1072455"/>
          </a:xfrm>
          <a:prstGeom prst="rect">
            <a:avLst/>
          </a:prstGeom>
        </p:spPr>
      </p:pic>
      <p:sp>
        <p:nvSpPr>
          <p:cNvPr id="11" name="Text 6"/>
          <p:cNvSpPr/>
          <p:nvPr/>
        </p:nvSpPr>
        <p:spPr>
          <a:xfrm>
            <a:off x="6118568" y="3288407"/>
            <a:ext cx="5411652" cy="23415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Registro Físico</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7"/>
          <p:cNvSpPr/>
          <p:nvPr/>
        </p:nvSpPr>
        <p:spPr>
          <a:xfrm>
            <a:off x="6118568" y="3604022"/>
            <a:ext cx="5411652" cy="457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7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Formulario segmentado para documentar el estado físico de los elementos del inmueble, organizado por zonas críticas como Paredes, Cocina y Sala.</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3" descr="preencoded.png"/>
          <p:cNvPicPr>
            <a:picLocks noChangeAspect="1"/>
          </p:cNvPicPr>
          <p:nvPr/>
        </p:nvPicPr>
        <p:blipFill>
          <a:blip r:embed="rId6"/>
          <a:stretch>
            <a:fillRect/>
          </a:stretch>
        </p:blipFill>
        <p:spPr>
          <a:xfrm>
            <a:off x="5233360" y="4211042"/>
            <a:ext cx="749380" cy="1072455"/>
          </a:xfrm>
          <a:prstGeom prst="rect">
            <a:avLst/>
          </a:prstGeom>
        </p:spPr>
      </p:pic>
      <p:sp>
        <p:nvSpPr>
          <p:cNvPr id="14" name="Text 8"/>
          <p:cNvSpPr/>
          <p:nvPr/>
        </p:nvSpPr>
        <p:spPr>
          <a:xfrm>
            <a:off x="6118568" y="4360863"/>
            <a:ext cx="5411652" cy="23415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Consolidación</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9"/>
          <p:cNvSpPr/>
          <p:nvPr/>
        </p:nvSpPr>
        <p:spPr>
          <a:xfrm>
            <a:off x="6118568" y="4676477"/>
            <a:ext cx="5411652" cy="457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7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Vista de solo lectura para la confirmación de los códigos capturados en campo antes del cierre definitivo del inventario.</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Image 4" descr="preencoded.png"/>
          <p:cNvPicPr>
            <a:picLocks noChangeAspect="1"/>
          </p:cNvPicPr>
          <p:nvPr/>
        </p:nvPicPr>
        <p:blipFill>
          <a:blip r:embed="rId7"/>
          <a:stretch>
            <a:fillRect/>
          </a:stretch>
        </p:blipFill>
        <p:spPr>
          <a:xfrm>
            <a:off x="5233360" y="5283498"/>
            <a:ext cx="749380" cy="1072455"/>
          </a:xfrm>
          <a:prstGeom prst="rect">
            <a:avLst/>
          </a:prstGeom>
        </p:spPr>
      </p:pic>
      <p:sp>
        <p:nvSpPr>
          <p:cNvPr id="17" name="Text 10"/>
          <p:cNvSpPr/>
          <p:nvPr/>
        </p:nvSpPr>
        <p:spPr>
          <a:xfrm>
            <a:off x="6118568" y="5433318"/>
            <a:ext cx="5411652" cy="23415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Despacho Digital</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1"/>
          <p:cNvSpPr/>
          <p:nvPr/>
        </p:nvSpPr>
        <p:spPr>
          <a:xfrm>
            <a:off x="6118568" y="5748933"/>
            <a:ext cx="5411652" cy="457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7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Formulario para parametrizar la salida y destino del inventario finalizado, seleccionando el stakeholder receptor (Inquilino, Propietario o Asesor).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41762-84DD-BC1D-5365-2A609978683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DFACE5C-A654-7928-340E-B2CA813EFBA3}"/>
              </a:ext>
            </a:extLst>
          </p:cNvPr>
          <p:cNvPicPr>
            <a:picLocks noChangeAspect="1"/>
          </p:cNvPicPr>
          <p:nvPr/>
        </p:nvPicPr>
        <p:blipFill>
          <a:blip r:embed="rId3"/>
          <a:stretch>
            <a:fillRect/>
          </a:stretch>
        </p:blipFill>
        <p:spPr>
          <a:xfrm>
            <a:off x="0" y="0"/>
            <a:ext cx="4571886" cy="6858000"/>
          </a:xfrm>
          <a:prstGeom prst="rect">
            <a:avLst/>
          </a:prstGeom>
        </p:spPr>
      </p:pic>
      <p:sp>
        <p:nvSpPr>
          <p:cNvPr id="3" name="Shape 0">
            <a:extLst>
              <a:ext uri="{FF2B5EF4-FFF2-40B4-BE49-F238E27FC236}">
                <a16:creationId xmlns:a16="http://schemas.microsoft.com/office/drawing/2014/main" id="{9F3D8EBC-E83C-8A8F-0426-95D7425F3275}"/>
              </a:ext>
            </a:extLst>
          </p:cNvPr>
          <p:cNvSpPr/>
          <p:nvPr/>
        </p:nvSpPr>
        <p:spPr>
          <a:xfrm>
            <a:off x="5233360" y="501948"/>
            <a:ext cx="1314913" cy="227806"/>
          </a:xfrm>
          <a:prstGeom prst="roundRect">
            <a:avLst>
              <a:gd name="adj" fmla="val 7895"/>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a:extLst>
              <a:ext uri="{FF2B5EF4-FFF2-40B4-BE49-F238E27FC236}">
                <a16:creationId xmlns:a16="http://schemas.microsoft.com/office/drawing/2014/main" id="{207F3B97-BEC7-81F6-4A53-3F4788844471}"/>
              </a:ext>
            </a:extLst>
          </p:cNvPr>
          <p:cNvSpPr/>
          <p:nvPr/>
        </p:nvSpPr>
        <p:spPr>
          <a:xfrm>
            <a:off x="5323250" y="546894"/>
            <a:ext cx="1744718" cy="137914"/>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FUNCIONALIDADES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a:extLst>
              <a:ext uri="{FF2B5EF4-FFF2-40B4-BE49-F238E27FC236}">
                <a16:creationId xmlns:a16="http://schemas.microsoft.com/office/drawing/2014/main" id="{F1615546-28C1-DD1C-51E5-2FFDEE8D229B}"/>
              </a:ext>
            </a:extLst>
          </p:cNvPr>
          <p:cNvSpPr/>
          <p:nvPr/>
        </p:nvSpPr>
        <p:spPr>
          <a:xfrm>
            <a:off x="5233360" y="784027"/>
            <a:ext cx="6296860" cy="468412"/>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9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Funcionalidades del Sistema</a:t>
            </a:r>
            <a:endParaRPr kumimoji="0" lang="en-US" sz="2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5">
            <a:extLst>
              <a:ext uri="{FF2B5EF4-FFF2-40B4-BE49-F238E27FC236}">
                <a16:creationId xmlns:a16="http://schemas.microsoft.com/office/drawing/2014/main" id="{B4FBEA6D-0436-A20E-5160-A2200E72F462}"/>
              </a:ext>
            </a:extLst>
          </p:cNvPr>
          <p:cNvSpPr txBox="1"/>
          <p:nvPr/>
        </p:nvSpPr>
        <p:spPr>
          <a:xfrm>
            <a:off x="5323250" y="1676539"/>
            <a:ext cx="5120640" cy="4389120"/>
          </a:xfrm>
          <a:prstGeom prst="rect">
            <a:avLst/>
          </a:prstGeom>
          <a:noFill/>
        </p:spPr>
        <p:txBody>
          <a:bodyPr wrap="square">
            <a:spAutoFit/>
          </a:bodyPr>
          <a:lstStyle/>
          <a:p>
            <a:pPr>
              <a:defRPr sz="1100">
                <a:solidFill>
                  <a:srgbClr val="286E28"/>
                </a:solidFill>
                <a:latin typeface="Courier New"/>
              </a:defRPr>
            </a:pPr>
            <a:r>
              <a:rPr dirty="0"/>
              <a:t>// </a:t>
            </a:r>
            <a:r>
              <a:rPr dirty="0" err="1"/>
              <a:t>Funcionalidades</a:t>
            </a:r>
            <a:r>
              <a:rPr dirty="0"/>
              <a:t> core </a:t>
            </a:r>
            <a:r>
              <a:rPr dirty="0" err="1"/>
              <a:t>desplegadas</a:t>
            </a:r>
            <a:r>
              <a:rPr dirty="0"/>
              <a:t> en </a:t>
            </a:r>
            <a:r>
              <a:rPr dirty="0" err="1"/>
              <a:t>lista_inventarios.dart</a:t>
            </a:r>
            <a:br>
              <a:rPr dirty="0"/>
            </a:br>
            <a:r>
              <a:rPr dirty="0" err="1"/>
              <a:t>ElevatedButton</a:t>
            </a:r>
            <a:r>
              <a:rPr dirty="0"/>
              <a:t>(</a:t>
            </a:r>
            <a:br>
              <a:rPr dirty="0"/>
            </a:br>
            <a:r>
              <a:rPr dirty="0"/>
              <a:t>  </a:t>
            </a:r>
            <a:r>
              <a:rPr dirty="0" err="1"/>
              <a:t>onPressed</a:t>
            </a:r>
            <a:r>
              <a:rPr dirty="0"/>
              <a:t>: () {</a:t>
            </a:r>
            <a:br>
              <a:rPr dirty="0"/>
            </a:br>
            <a:r>
              <a:rPr dirty="0"/>
              <a:t>    </a:t>
            </a:r>
            <a:r>
              <a:rPr dirty="0" err="1"/>
              <a:t>Navigator.push</a:t>
            </a:r>
            <a:r>
              <a:rPr dirty="0"/>
              <a:t>(</a:t>
            </a:r>
            <a:br>
              <a:rPr dirty="0"/>
            </a:br>
            <a:r>
              <a:rPr dirty="0"/>
              <a:t>      context,</a:t>
            </a:r>
            <a:br>
              <a:rPr dirty="0"/>
            </a:br>
            <a:r>
              <a:rPr dirty="0"/>
              <a:t>      </a:t>
            </a:r>
            <a:r>
              <a:rPr dirty="0" err="1"/>
              <a:t>MaterialPageRoute</a:t>
            </a:r>
            <a:r>
              <a:rPr dirty="0"/>
              <a:t>(</a:t>
            </a:r>
            <a:br>
              <a:rPr dirty="0"/>
            </a:br>
            <a:r>
              <a:rPr dirty="0"/>
              <a:t>        builder: (context) =&gt; </a:t>
            </a:r>
            <a:r>
              <a:rPr dirty="0" err="1"/>
              <a:t>DetalleInmueble</a:t>
            </a:r>
            <a:r>
              <a:rPr dirty="0"/>
              <a:t>(</a:t>
            </a:r>
            <a:r>
              <a:rPr dirty="0" err="1"/>
              <a:t>codigo</a:t>
            </a:r>
            <a:r>
              <a:rPr dirty="0"/>
              <a:t>: </a:t>
            </a:r>
            <a:r>
              <a:rPr dirty="0" err="1"/>
              <a:t>codigo</a:t>
            </a:r>
            <a:r>
              <a:rPr dirty="0"/>
              <a:t>),</a:t>
            </a:r>
            <a:br>
              <a:rPr dirty="0"/>
            </a:br>
            <a:r>
              <a:rPr dirty="0"/>
              <a:t>      ),</a:t>
            </a:r>
            <a:br>
              <a:rPr dirty="0"/>
            </a:br>
            <a:r>
              <a:rPr dirty="0"/>
              <a:t>    );</a:t>
            </a:r>
            <a:br>
              <a:rPr dirty="0"/>
            </a:br>
            <a:r>
              <a:rPr dirty="0"/>
              <a:t>  },</a:t>
            </a:r>
            <a:br>
              <a:rPr dirty="0"/>
            </a:br>
            <a:r>
              <a:rPr dirty="0"/>
              <a:t>  child: const Text('</a:t>
            </a:r>
            <a:r>
              <a:rPr dirty="0" err="1"/>
              <a:t>ver</a:t>
            </a:r>
            <a:r>
              <a:rPr dirty="0"/>
              <a:t> </a:t>
            </a:r>
            <a:r>
              <a:rPr dirty="0" err="1"/>
              <a:t>más</a:t>
            </a:r>
            <a:r>
              <a:rPr dirty="0"/>
              <a:t>', style: </a:t>
            </a:r>
            <a:r>
              <a:rPr dirty="0" err="1"/>
              <a:t>TextStyle</a:t>
            </a:r>
            <a:r>
              <a:rPr dirty="0"/>
              <a:t>(</a:t>
            </a:r>
            <a:r>
              <a:rPr dirty="0" err="1"/>
              <a:t>fontSize</a:t>
            </a:r>
            <a:r>
              <a:rPr dirty="0"/>
              <a:t>: 14)),</a:t>
            </a:r>
            <a:br>
              <a:rPr dirty="0"/>
            </a:br>
            <a:r>
              <a:rPr dirty="0"/>
              <a:t>)</a:t>
            </a:r>
          </a:p>
        </p:txBody>
      </p:sp>
    </p:spTree>
    <p:extLst>
      <p:ext uri="{BB962C8B-B14F-4D97-AF65-F5344CB8AC3E}">
        <p14:creationId xmlns:p14="http://schemas.microsoft.com/office/powerpoint/2010/main" val="2400229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494804"/>
            <a:ext cx="1342793" cy="247352"/>
          </a:xfrm>
          <a:prstGeom prst="roundRect">
            <a:avLst>
              <a:gd name="adj" fmla="val 7898"/>
            </a:avLst>
          </a:prstGeom>
          <a:solidFill>
            <a:srgbClr val="4A030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59104" y="543620"/>
            <a:ext cx="1757120" cy="149721"/>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REQUERIMIENTOS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806252"/>
            <a:ext cx="10868745" cy="50869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Requerimientos Funcionales (RF)</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1555254"/>
            <a:ext cx="10868745" cy="5169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Los módulos de interfaz implementados en código cubren los requerimientos funcionales desde la autenticación hasta la distribución del inventario, cada uno con controles y componentes específicos en Dart/Flutter.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252464"/>
            <a:ext cx="5354206" cy="1975247"/>
          </a:xfrm>
          <a:prstGeom prst="rect">
            <a:avLst/>
          </a:prstGeom>
        </p:spPr>
      </p:pic>
      <p:sp>
        <p:nvSpPr>
          <p:cNvPr id="7" name="Text 4"/>
          <p:cNvSpPr/>
          <p:nvPr/>
        </p:nvSpPr>
        <p:spPr>
          <a:xfrm>
            <a:off x="3216492" y="2363093"/>
            <a:ext cx="244171" cy="305197"/>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1</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843239" y="2920107"/>
            <a:ext cx="4990677" cy="254298"/>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RF-01 — Login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843239" y="3270548"/>
            <a:ext cx="4990677" cy="775395"/>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Captura de correo y contraseña mediante controladores de texto (</a:t>
            </a:r>
            <a:r>
              <a:rPr kumimoji="0" lang="en-US" sz="125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controladorCorreo</a:t>
            </a:r>
            <a:r>
              <a:rPr kumimoji="0" lang="en-US" sz="12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a:t>
            </a:r>
            <a:r>
              <a:rPr kumimoji="0" lang="en-US" sz="125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controladorContrasena</a:t>
            </a:r>
            <a:r>
              <a:rPr kumimoji="0" lang="en-US" sz="12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Valida credenciales antes de permitir el acceso al listado de inmuebles.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5915" y="2252464"/>
            <a:ext cx="5354305" cy="1975247"/>
          </a:xfrm>
          <a:prstGeom prst="rect">
            <a:avLst/>
          </a:prstGeom>
        </p:spPr>
      </p:pic>
      <p:sp>
        <p:nvSpPr>
          <p:cNvPr id="11" name="Text 7"/>
          <p:cNvSpPr/>
          <p:nvPr/>
        </p:nvSpPr>
        <p:spPr>
          <a:xfrm>
            <a:off x="8730932" y="2363093"/>
            <a:ext cx="244171" cy="305197"/>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2</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6357679" y="2920107"/>
            <a:ext cx="4990777" cy="254298"/>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RF-02 y RF-03 — Creación y Espacios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6357679" y="3270548"/>
            <a:ext cx="4990777" cy="775395"/>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Inicialización de la inspección por código de inmueble y despliegue dinámico de zonas en </a:t>
            </a:r>
            <a:r>
              <a:rPr kumimoji="0" lang="en-US" sz="125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crear_inventario.dart</a:t>
            </a:r>
            <a:r>
              <a:rPr kumimoji="0" lang="en-US" sz="12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Cada zona se presenta como una tarjeta independiente.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387949"/>
            <a:ext cx="5354206" cy="1975247"/>
          </a:xfrm>
          <a:prstGeom prst="rect">
            <a:avLst/>
          </a:prstGeom>
        </p:spPr>
      </p:pic>
      <p:sp>
        <p:nvSpPr>
          <p:cNvPr id="15" name="Text 10"/>
          <p:cNvSpPr/>
          <p:nvPr/>
        </p:nvSpPr>
        <p:spPr>
          <a:xfrm>
            <a:off x="3216492" y="4498578"/>
            <a:ext cx="244171" cy="305197"/>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3</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1"/>
          <p:cNvSpPr/>
          <p:nvPr/>
        </p:nvSpPr>
        <p:spPr>
          <a:xfrm>
            <a:off x="843239" y="5055592"/>
            <a:ext cx="4990677" cy="254298"/>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RF-04 y RF-05 — Novedades y Evidencia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2"/>
          <p:cNvSpPr/>
          <p:nvPr/>
        </p:nvSpPr>
        <p:spPr>
          <a:xfrm>
            <a:off x="843239" y="5406033"/>
            <a:ext cx="4990677" cy="775395"/>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Cuadros de texto multilínea para observaciones por espacio y botones interactivos para adjuntar fotos como evidencia visual del estado registrado en campo.</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5915" y="4387949"/>
            <a:ext cx="5354305" cy="1975247"/>
          </a:xfrm>
          <a:prstGeom prst="rect">
            <a:avLst/>
          </a:prstGeom>
        </p:spPr>
      </p:pic>
      <p:sp>
        <p:nvSpPr>
          <p:cNvPr id="19" name="Text 13"/>
          <p:cNvSpPr/>
          <p:nvPr/>
        </p:nvSpPr>
        <p:spPr>
          <a:xfrm>
            <a:off x="8730932" y="4498578"/>
            <a:ext cx="244171" cy="305197"/>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4</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4"/>
          <p:cNvSpPr/>
          <p:nvPr/>
        </p:nvSpPr>
        <p:spPr>
          <a:xfrm>
            <a:off x="6357679" y="5055592"/>
            <a:ext cx="4990777" cy="254298"/>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RF-09 — Distribución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5"/>
          <p:cNvSpPr/>
          <p:nvPr/>
        </p:nvSpPr>
        <p:spPr>
          <a:xfrm>
            <a:off x="6357679" y="5406033"/>
            <a:ext cx="4990777" cy="775395"/>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Simulación del envío del inventario mediante </a:t>
            </a:r>
            <a:r>
              <a:rPr kumimoji="0" lang="en-US" sz="125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ScaffoldMessenger.of(context).showSnackBar()</a:t>
            </a:r>
            <a:r>
              <a:rPr kumimoji="0" lang="en-US" sz="12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confirmando al usuario el destinatario seleccionado y el éxito del despacho.</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907D1-5C55-F749-52E2-A137840291F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F3358FD-301E-AB34-FE3F-25EB3C25414C}"/>
              </a:ext>
            </a:extLst>
          </p:cNvPr>
          <p:cNvSpPr/>
          <p:nvPr/>
        </p:nvSpPr>
        <p:spPr>
          <a:xfrm>
            <a:off x="661475" y="494804"/>
            <a:ext cx="1342793" cy="247352"/>
          </a:xfrm>
          <a:prstGeom prst="roundRect">
            <a:avLst>
              <a:gd name="adj" fmla="val 7898"/>
            </a:avLst>
          </a:prstGeom>
          <a:solidFill>
            <a:srgbClr val="4A030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941C1695-34EC-D393-0DEF-532F5CBEB3BF}"/>
              </a:ext>
            </a:extLst>
          </p:cNvPr>
          <p:cNvSpPr/>
          <p:nvPr/>
        </p:nvSpPr>
        <p:spPr>
          <a:xfrm>
            <a:off x="759104" y="543620"/>
            <a:ext cx="1757120" cy="149721"/>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REQUERIMIENTOS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97D04475-A213-0412-C1AC-F818B55F2BB8}"/>
              </a:ext>
            </a:extLst>
          </p:cNvPr>
          <p:cNvSpPr/>
          <p:nvPr/>
        </p:nvSpPr>
        <p:spPr>
          <a:xfrm>
            <a:off x="661475" y="806252"/>
            <a:ext cx="10868745" cy="50869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Requerimientos Funcionales (RF)</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0">
            <a:extLst>
              <a:ext uri="{FF2B5EF4-FFF2-40B4-BE49-F238E27FC236}">
                <a16:creationId xmlns:a16="http://schemas.microsoft.com/office/drawing/2014/main" id="{519926C2-AE57-A73B-A460-E055B93B563B}"/>
              </a:ext>
            </a:extLst>
          </p:cNvPr>
          <p:cNvSpPr/>
          <p:nvPr/>
        </p:nvSpPr>
        <p:spPr>
          <a:xfrm>
            <a:off x="3216492" y="4498578"/>
            <a:ext cx="244171" cy="305197"/>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5">
            <a:extLst>
              <a:ext uri="{FF2B5EF4-FFF2-40B4-BE49-F238E27FC236}">
                <a16:creationId xmlns:a16="http://schemas.microsoft.com/office/drawing/2014/main" id="{A53F6E98-3F2E-DA01-C930-D362D9D3A720}"/>
              </a:ext>
            </a:extLst>
          </p:cNvPr>
          <p:cNvSpPr txBox="1"/>
          <p:nvPr/>
        </p:nvSpPr>
        <p:spPr>
          <a:xfrm>
            <a:off x="778257" y="1477735"/>
            <a:ext cx="5120640" cy="4389120"/>
          </a:xfrm>
          <a:prstGeom prst="rect">
            <a:avLst/>
          </a:prstGeom>
          <a:noFill/>
        </p:spPr>
        <p:txBody>
          <a:bodyPr wrap="square">
            <a:spAutoFit/>
          </a:bodyPr>
          <a:lstStyle/>
          <a:p>
            <a:pPr>
              <a:defRPr sz="1100">
                <a:solidFill>
                  <a:srgbClr val="286E28"/>
                </a:solidFill>
                <a:latin typeface="Courier New"/>
              </a:defRPr>
            </a:pPr>
            <a:r>
              <a:rPr dirty="0"/>
              <a:t>// </a:t>
            </a:r>
            <a:r>
              <a:rPr dirty="0" err="1"/>
              <a:t>Funcionalidades</a:t>
            </a:r>
            <a:r>
              <a:rPr dirty="0"/>
              <a:t> core </a:t>
            </a:r>
            <a:r>
              <a:rPr dirty="0" err="1"/>
              <a:t>desplegadas</a:t>
            </a:r>
            <a:r>
              <a:rPr dirty="0"/>
              <a:t> en </a:t>
            </a:r>
            <a:r>
              <a:rPr dirty="0" err="1"/>
              <a:t>lista_inventarios.dart</a:t>
            </a:r>
            <a:br>
              <a:rPr dirty="0"/>
            </a:br>
            <a:r>
              <a:rPr dirty="0" err="1"/>
              <a:t>ElevatedButton</a:t>
            </a:r>
            <a:r>
              <a:rPr dirty="0"/>
              <a:t>(</a:t>
            </a:r>
            <a:br>
              <a:rPr dirty="0"/>
            </a:br>
            <a:r>
              <a:rPr dirty="0"/>
              <a:t>  </a:t>
            </a:r>
            <a:r>
              <a:rPr dirty="0" err="1"/>
              <a:t>onPressed</a:t>
            </a:r>
            <a:r>
              <a:rPr dirty="0"/>
              <a:t>: () {</a:t>
            </a:r>
            <a:br>
              <a:rPr dirty="0"/>
            </a:br>
            <a:r>
              <a:rPr dirty="0"/>
              <a:t>    </a:t>
            </a:r>
            <a:r>
              <a:rPr dirty="0" err="1"/>
              <a:t>Navigator.push</a:t>
            </a:r>
            <a:r>
              <a:rPr dirty="0"/>
              <a:t>(</a:t>
            </a:r>
            <a:br>
              <a:rPr dirty="0"/>
            </a:br>
            <a:r>
              <a:rPr dirty="0"/>
              <a:t>      context,</a:t>
            </a:r>
            <a:br>
              <a:rPr dirty="0"/>
            </a:br>
            <a:r>
              <a:rPr dirty="0"/>
              <a:t>      </a:t>
            </a:r>
            <a:r>
              <a:rPr dirty="0" err="1"/>
              <a:t>MaterialPageRoute</a:t>
            </a:r>
            <a:r>
              <a:rPr dirty="0"/>
              <a:t>(</a:t>
            </a:r>
            <a:br>
              <a:rPr dirty="0"/>
            </a:br>
            <a:r>
              <a:rPr dirty="0"/>
              <a:t>        builder: (context) =&gt; </a:t>
            </a:r>
            <a:r>
              <a:rPr dirty="0" err="1"/>
              <a:t>DetalleInmueble</a:t>
            </a:r>
            <a:r>
              <a:rPr dirty="0"/>
              <a:t>(</a:t>
            </a:r>
            <a:r>
              <a:rPr dirty="0" err="1"/>
              <a:t>codigo</a:t>
            </a:r>
            <a:r>
              <a:rPr dirty="0"/>
              <a:t>: </a:t>
            </a:r>
            <a:r>
              <a:rPr dirty="0" err="1"/>
              <a:t>codigo</a:t>
            </a:r>
            <a:r>
              <a:rPr dirty="0"/>
              <a:t>),</a:t>
            </a:r>
            <a:br>
              <a:rPr dirty="0"/>
            </a:br>
            <a:r>
              <a:rPr dirty="0"/>
              <a:t>      ),</a:t>
            </a:r>
            <a:br>
              <a:rPr dirty="0"/>
            </a:br>
            <a:r>
              <a:rPr dirty="0"/>
              <a:t>    );</a:t>
            </a:r>
            <a:br>
              <a:rPr dirty="0"/>
            </a:br>
            <a:r>
              <a:rPr dirty="0"/>
              <a:t>  },</a:t>
            </a:r>
            <a:br>
              <a:rPr dirty="0"/>
            </a:br>
            <a:r>
              <a:rPr dirty="0"/>
              <a:t>  child: const Text('</a:t>
            </a:r>
            <a:r>
              <a:rPr dirty="0" err="1"/>
              <a:t>ver</a:t>
            </a:r>
            <a:r>
              <a:rPr dirty="0"/>
              <a:t> </a:t>
            </a:r>
            <a:r>
              <a:rPr dirty="0" err="1"/>
              <a:t>más</a:t>
            </a:r>
            <a:r>
              <a:rPr dirty="0"/>
              <a:t>', style: </a:t>
            </a:r>
            <a:r>
              <a:rPr dirty="0" err="1"/>
              <a:t>TextStyle</a:t>
            </a:r>
            <a:r>
              <a:rPr dirty="0"/>
              <a:t>(</a:t>
            </a:r>
            <a:r>
              <a:rPr dirty="0" err="1"/>
              <a:t>fontSize</a:t>
            </a:r>
            <a:r>
              <a:rPr dirty="0"/>
              <a:t>: 14)),</a:t>
            </a:r>
            <a:br>
              <a:rPr dirty="0"/>
            </a:br>
            <a:r>
              <a:rPr dirty="0"/>
              <a:t>)</a:t>
            </a:r>
          </a:p>
        </p:txBody>
      </p:sp>
    </p:spTree>
    <p:extLst>
      <p:ext uri="{BB962C8B-B14F-4D97-AF65-F5344CB8AC3E}">
        <p14:creationId xmlns:p14="http://schemas.microsoft.com/office/powerpoint/2010/main" val="4102199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00832"/>
            <a:ext cx="1823893" cy="251420"/>
          </a:xfrm>
          <a:prstGeom prst="roundRect">
            <a:avLst>
              <a:gd name="adj" fmla="val 7894"/>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60691" y="1150441"/>
            <a:ext cx="2235045" cy="152202"/>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CALIDAD DEL SOFTWARE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1418332"/>
            <a:ext cx="10868745" cy="516731"/>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Requerimientos No Funcionales (RNF)</a:t>
            </a:r>
            <a:endParaRPr kumimoji="0" lang="en-US" sz="3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2183110"/>
            <a:ext cx="10868745" cy="529233"/>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Los atributos de calidad definen las restricciones técnicas y de experiencia de usuario que guían las decisiones de diseño e implementación del prototipo.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61475" y="2898378"/>
            <a:ext cx="3512653" cy="1746746"/>
          </a:xfrm>
          <a:prstGeom prst="roundRect">
            <a:avLst>
              <a:gd name="adj" fmla="val 1420"/>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826769" y="3063677"/>
            <a:ext cx="3182064" cy="25846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RNF-01 — Rendimiento</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6769" y="3421360"/>
            <a:ext cx="3182064" cy="105846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Flujo ágil diseñado para que el inventario completo se realice en </a:t>
            </a:r>
            <a:r>
              <a:rPr kumimoji="0" lang="en-US" sz="13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 2 horas</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en campo, minimizando fricciones en la captura de datos.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339422" y="2898378"/>
            <a:ext cx="3512752" cy="1746746"/>
          </a:xfrm>
          <a:prstGeom prst="roundRect">
            <a:avLst>
              <a:gd name="adj" fmla="val 1420"/>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4504716" y="3063677"/>
            <a:ext cx="3182163" cy="25846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RNF-04 — Compatibilidad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04716" y="3421360"/>
            <a:ext cx="3182163" cy="105846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Código base en </a:t>
            </a:r>
            <a:r>
              <a:rPr kumimoji="0" lang="en-US" sz="13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Dart</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compatible de forma nativa con </a:t>
            </a:r>
            <a:r>
              <a:rPr kumimoji="0" lang="en-US" sz="13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Android e iOS</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aprovechando la naturaleza multiplataforma de Flutter.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8017468" y="2898378"/>
            <a:ext cx="3512653" cy="1746746"/>
          </a:xfrm>
          <a:prstGeom prst="roundRect">
            <a:avLst>
              <a:gd name="adj" fmla="val 1420"/>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8182762" y="3063677"/>
            <a:ext cx="3182064" cy="25846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RNF-05 — Usabilidad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8182762" y="3421360"/>
            <a:ext cx="3182064" cy="105846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Diseño orientado al uso en campo: tarjetas (</a:t>
            </a:r>
            <a:r>
              <a:rPr kumimoji="0" lang="en-US" sz="130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Card</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botones grandes y listas verticales de fácil lectura incluso en condiciones de luz exterior.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4">
            <a:extLst>
              <a:ext uri="{FF2B5EF4-FFF2-40B4-BE49-F238E27FC236}">
                <a16:creationId xmlns:a16="http://schemas.microsoft.com/office/drawing/2014/main" id="{28FE774B-140A-06ED-685B-E685D23BDBAA}"/>
              </a:ext>
            </a:extLst>
          </p:cNvPr>
          <p:cNvSpPr/>
          <p:nvPr/>
        </p:nvSpPr>
        <p:spPr>
          <a:xfrm>
            <a:off x="5250277" y="5277000"/>
            <a:ext cx="5203794" cy="1348184"/>
          </a:xfrm>
          <a:prstGeom prst="roundRect">
            <a:avLst>
              <a:gd name="adj" fmla="val 2103"/>
            </a:avLst>
          </a:prstGeom>
          <a:solidFill>
            <a:srgbClr val="02234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5">
            <a:extLst>
              <a:ext uri="{FF2B5EF4-FFF2-40B4-BE49-F238E27FC236}">
                <a16:creationId xmlns:a16="http://schemas.microsoft.com/office/drawing/2014/main" id="{CEDE0B61-865A-B0A9-4FCE-AB7F2607A69E}"/>
              </a:ext>
            </a:extLst>
          </p:cNvPr>
          <p:cNvSpPr/>
          <p:nvPr/>
        </p:nvSpPr>
        <p:spPr>
          <a:xfrm>
            <a:off x="5817198" y="5494289"/>
            <a:ext cx="4400539" cy="91360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AppBar institucional con color </a:t>
            </a:r>
            <a:r>
              <a:rPr kumimoji="0" lang="en-US" sz="1450" b="0" i="0" u="none" strike="noStrike" kern="1200" cap="none" spc="0" normalizeH="0" baseline="0" noProof="0" dirty="0">
                <a:ln>
                  <a:noFill/>
                </a:ln>
                <a:solidFill>
                  <a:srgbClr val="FFFFFF"/>
                </a:solidFill>
                <a:effectLst/>
                <a:highlight>
                  <a:srgbClr val="313136"/>
                </a:highlight>
                <a:uLnTx/>
                <a:uFillTx/>
                <a:latin typeface="Consolas" pitchFamily="34" charset="0"/>
                <a:ea typeface="Consolas" pitchFamily="34" charset="-122"/>
                <a:cs typeface="Consolas" pitchFamily="34" charset="-120"/>
              </a:rPr>
              <a:t>#02005F</a:t>
            </a:r>
            <a:r>
              <a:rPr kumimoji="0" lang="en-US" sz="14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y componentes Card para modularidad visual en campo.</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Image 0" descr="preencoded.png">
            <a:extLst>
              <a:ext uri="{FF2B5EF4-FFF2-40B4-BE49-F238E27FC236}">
                <a16:creationId xmlns:a16="http://schemas.microsoft.com/office/drawing/2014/main" id="{7F37006C-E48B-FEB0-D14E-70C2597AE05B}"/>
              </a:ext>
            </a:extLst>
          </p:cNvPr>
          <p:cNvPicPr>
            <a:picLocks noChangeAspect="1"/>
          </p:cNvPicPr>
          <p:nvPr/>
        </p:nvPicPr>
        <p:blipFill>
          <a:blip r:embed="rId3"/>
          <a:stretch>
            <a:fillRect/>
          </a:stretch>
        </p:blipFill>
        <p:spPr>
          <a:xfrm>
            <a:off x="5415621" y="5494289"/>
            <a:ext cx="236234" cy="1890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F64F2-A45B-CBFF-FE26-9E545E39C3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259F2D-DC36-EE96-B660-E9CAA4073359}"/>
              </a:ext>
            </a:extLst>
          </p:cNvPr>
          <p:cNvSpPr/>
          <p:nvPr/>
        </p:nvSpPr>
        <p:spPr>
          <a:xfrm>
            <a:off x="661475" y="1100832"/>
            <a:ext cx="1823893" cy="251420"/>
          </a:xfrm>
          <a:prstGeom prst="roundRect">
            <a:avLst>
              <a:gd name="adj" fmla="val 7894"/>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754D720-0996-B56A-375C-B27DFE61E8F8}"/>
              </a:ext>
            </a:extLst>
          </p:cNvPr>
          <p:cNvSpPr/>
          <p:nvPr/>
        </p:nvSpPr>
        <p:spPr>
          <a:xfrm>
            <a:off x="760691" y="1150441"/>
            <a:ext cx="2235045" cy="152202"/>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CALIDAD DEL SOFTWARE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1B502C46-789D-1616-E2AC-D358D0BBE15A}"/>
              </a:ext>
            </a:extLst>
          </p:cNvPr>
          <p:cNvSpPr/>
          <p:nvPr/>
        </p:nvSpPr>
        <p:spPr>
          <a:xfrm>
            <a:off x="661475" y="1418332"/>
            <a:ext cx="10868745" cy="516731"/>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Requerimientos No Funcionales (RNF)</a:t>
            </a:r>
            <a:endParaRPr kumimoji="0" lang="en-US" sz="3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4">
            <a:extLst>
              <a:ext uri="{FF2B5EF4-FFF2-40B4-BE49-F238E27FC236}">
                <a16:creationId xmlns:a16="http://schemas.microsoft.com/office/drawing/2014/main" id="{3BA0C78D-C752-312A-BE1D-6B9061762DF2}"/>
              </a:ext>
            </a:extLst>
          </p:cNvPr>
          <p:cNvSpPr/>
          <p:nvPr/>
        </p:nvSpPr>
        <p:spPr>
          <a:xfrm>
            <a:off x="5250277" y="5277000"/>
            <a:ext cx="5203794" cy="1348184"/>
          </a:xfrm>
          <a:prstGeom prst="roundRect">
            <a:avLst>
              <a:gd name="adj" fmla="val 2103"/>
            </a:avLst>
          </a:prstGeom>
          <a:solidFill>
            <a:srgbClr val="02234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5">
            <a:extLst>
              <a:ext uri="{FF2B5EF4-FFF2-40B4-BE49-F238E27FC236}">
                <a16:creationId xmlns:a16="http://schemas.microsoft.com/office/drawing/2014/main" id="{2A4D0C05-1C05-F58B-4942-E6379CCF4353}"/>
              </a:ext>
            </a:extLst>
          </p:cNvPr>
          <p:cNvSpPr/>
          <p:nvPr/>
        </p:nvSpPr>
        <p:spPr>
          <a:xfrm>
            <a:off x="5817198" y="5494289"/>
            <a:ext cx="4400539" cy="91360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AppBar institucional con color </a:t>
            </a:r>
            <a:r>
              <a:rPr kumimoji="0" lang="en-US" sz="1450" b="0" i="0" u="none" strike="noStrike" kern="1200" cap="none" spc="0" normalizeH="0" baseline="0" noProof="0" dirty="0">
                <a:ln>
                  <a:noFill/>
                </a:ln>
                <a:solidFill>
                  <a:srgbClr val="FFFFFF"/>
                </a:solidFill>
                <a:effectLst/>
                <a:highlight>
                  <a:srgbClr val="313136"/>
                </a:highlight>
                <a:uLnTx/>
                <a:uFillTx/>
                <a:latin typeface="Consolas" pitchFamily="34" charset="0"/>
                <a:ea typeface="Consolas" pitchFamily="34" charset="-122"/>
                <a:cs typeface="Consolas" pitchFamily="34" charset="-120"/>
              </a:rPr>
              <a:t>#02005F</a:t>
            </a:r>
            <a:r>
              <a:rPr kumimoji="0" lang="en-US" sz="14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y componentes Card para modularidad visual en campo.</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Image 0" descr="preencoded.png">
            <a:extLst>
              <a:ext uri="{FF2B5EF4-FFF2-40B4-BE49-F238E27FC236}">
                <a16:creationId xmlns:a16="http://schemas.microsoft.com/office/drawing/2014/main" id="{9795E7A8-5B37-2DA7-6494-811BA604F553}"/>
              </a:ext>
            </a:extLst>
          </p:cNvPr>
          <p:cNvPicPr>
            <a:picLocks noChangeAspect="1"/>
          </p:cNvPicPr>
          <p:nvPr/>
        </p:nvPicPr>
        <p:blipFill>
          <a:blip r:embed="rId3"/>
          <a:stretch>
            <a:fillRect/>
          </a:stretch>
        </p:blipFill>
        <p:spPr>
          <a:xfrm>
            <a:off x="5415621" y="5494289"/>
            <a:ext cx="236234" cy="189012"/>
          </a:xfrm>
          <a:prstGeom prst="rect">
            <a:avLst/>
          </a:prstGeom>
        </p:spPr>
      </p:pic>
      <p:sp>
        <p:nvSpPr>
          <p:cNvPr id="16" name="TextBox 5">
            <a:extLst>
              <a:ext uri="{FF2B5EF4-FFF2-40B4-BE49-F238E27FC236}">
                <a16:creationId xmlns:a16="http://schemas.microsoft.com/office/drawing/2014/main" id="{7E673946-3940-7554-FB2B-AD56FC5F7FFC}"/>
              </a:ext>
            </a:extLst>
          </p:cNvPr>
          <p:cNvSpPr txBox="1"/>
          <p:nvPr/>
        </p:nvSpPr>
        <p:spPr>
          <a:xfrm>
            <a:off x="760691" y="2294253"/>
            <a:ext cx="5120640" cy="4389120"/>
          </a:xfrm>
          <a:prstGeom prst="rect">
            <a:avLst/>
          </a:prstGeom>
          <a:noFill/>
        </p:spPr>
        <p:txBody>
          <a:bodyPr wrap="square">
            <a:spAutoFit/>
          </a:bodyPr>
          <a:lstStyle/>
          <a:p>
            <a:pPr>
              <a:defRPr sz="1100">
                <a:solidFill>
                  <a:srgbClr val="286E28"/>
                </a:solidFill>
                <a:latin typeface="Courier New"/>
              </a:defRPr>
            </a:pPr>
            <a:r>
              <a:rPr dirty="0"/>
              <a:t>// RNF-05: </a:t>
            </a:r>
            <a:r>
              <a:rPr dirty="0" err="1"/>
              <a:t>Estructuración</a:t>
            </a:r>
            <a:r>
              <a:rPr dirty="0"/>
              <a:t> </a:t>
            </a:r>
            <a:r>
              <a:rPr dirty="0" err="1"/>
              <a:t>limpia</a:t>
            </a:r>
            <a:r>
              <a:rPr dirty="0"/>
              <a:t> </a:t>
            </a:r>
            <a:r>
              <a:rPr dirty="0" err="1"/>
              <a:t>mediante</a:t>
            </a:r>
            <a:r>
              <a:rPr dirty="0"/>
              <a:t> </a:t>
            </a:r>
            <a:r>
              <a:rPr dirty="0" err="1"/>
              <a:t>tarjetas</a:t>
            </a:r>
            <a:r>
              <a:rPr dirty="0"/>
              <a:t> (Card)</a:t>
            </a:r>
            <a:br>
              <a:rPr dirty="0"/>
            </a:br>
            <a:r>
              <a:rPr dirty="0"/>
              <a:t>Card(</a:t>
            </a:r>
            <a:br>
              <a:rPr dirty="0"/>
            </a:br>
            <a:r>
              <a:rPr dirty="0"/>
              <a:t>  color: </a:t>
            </a:r>
            <a:r>
              <a:rPr dirty="0" err="1"/>
              <a:t>Colors.white</a:t>
            </a:r>
            <a:r>
              <a:rPr dirty="0"/>
              <a:t>,</a:t>
            </a:r>
            <a:br>
              <a:rPr dirty="0"/>
            </a:br>
            <a:r>
              <a:rPr dirty="0"/>
              <a:t>  shape: </a:t>
            </a:r>
            <a:r>
              <a:rPr dirty="0" err="1"/>
              <a:t>RoundedRectangleBorder</a:t>
            </a:r>
            <a:r>
              <a:rPr dirty="0"/>
              <a:t>(</a:t>
            </a:r>
            <a:br>
              <a:rPr dirty="0"/>
            </a:br>
            <a:r>
              <a:rPr dirty="0"/>
              <a:t>    </a:t>
            </a:r>
            <a:r>
              <a:rPr dirty="0" err="1"/>
              <a:t>borderRadius</a:t>
            </a:r>
            <a:r>
              <a:rPr dirty="0"/>
              <a:t>: </a:t>
            </a:r>
            <a:r>
              <a:rPr dirty="0" err="1"/>
              <a:t>BorderRadius.circular</a:t>
            </a:r>
            <a:r>
              <a:rPr dirty="0"/>
              <a:t>(12),</a:t>
            </a:r>
            <a:br>
              <a:rPr dirty="0"/>
            </a:br>
            <a:r>
              <a:rPr dirty="0"/>
              <a:t>    side: </a:t>
            </a:r>
            <a:r>
              <a:rPr dirty="0" err="1"/>
              <a:t>BorderSide</a:t>
            </a:r>
            <a:r>
              <a:rPr dirty="0"/>
              <a:t>(color: Colors.grey.shade200),</a:t>
            </a:r>
            <a:br>
              <a:rPr dirty="0"/>
            </a:br>
            <a:r>
              <a:rPr dirty="0"/>
              <a:t>  ),</a:t>
            </a:r>
            <a:br>
              <a:rPr dirty="0"/>
            </a:br>
            <a:r>
              <a:rPr dirty="0"/>
              <a:t>  elevation: 0,</a:t>
            </a:r>
            <a:br>
              <a:rPr dirty="0"/>
            </a:br>
            <a:r>
              <a:rPr dirty="0"/>
              <a:t>  child: Column( /* ... UI de </a:t>
            </a:r>
            <a:r>
              <a:rPr dirty="0" err="1"/>
              <a:t>Inspección</a:t>
            </a:r>
            <a:r>
              <a:rPr dirty="0"/>
              <a:t> ... */ ),</a:t>
            </a:r>
            <a:br>
              <a:rPr dirty="0"/>
            </a:br>
            <a:r>
              <a:rPr dirty="0"/>
              <a:t>)</a:t>
            </a:r>
          </a:p>
        </p:txBody>
      </p:sp>
    </p:spTree>
    <p:extLst>
      <p:ext uri="{BB962C8B-B14F-4D97-AF65-F5344CB8AC3E}">
        <p14:creationId xmlns:p14="http://schemas.microsoft.com/office/powerpoint/2010/main" val="2485029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46298"/>
            <a:ext cx="1529220" cy="243979"/>
          </a:xfrm>
          <a:prstGeom prst="roundRect">
            <a:avLst>
              <a:gd name="adj" fmla="val 7902"/>
            </a:avLst>
          </a:prstGeom>
          <a:noFill/>
          <a:ln w="6350">
            <a:solidFill>
              <a:srgbClr val="FDC4C4"/>
            </a:solidFill>
            <a:prstDash val="solid"/>
          </a:ln>
        </p:spPr>
        <p:txBody>
          <a:bodyPr/>
          <a:lstStyle/>
          <a:p>
            <a:endParaRPr lang="es-CO"/>
          </a:p>
        </p:txBody>
      </p:sp>
      <p:sp>
        <p:nvSpPr>
          <p:cNvPr id="3" name="Text 1"/>
          <p:cNvSpPr/>
          <p:nvPr/>
        </p:nvSpPr>
        <p:spPr>
          <a:xfrm>
            <a:off x="757814" y="594420"/>
            <a:ext cx="1946127" cy="147737"/>
          </a:xfrm>
          <a:prstGeom prst="rect">
            <a:avLst/>
          </a:prstGeom>
          <a:noFill/>
          <a:ln/>
        </p:spPr>
        <p:txBody>
          <a:bodyPr wrap="none" lIns="0" tIns="0" rIns="0" bIns="0" rtlCol="0" anchor="t"/>
          <a:lstStyle/>
          <a:p>
            <a:pPr marL="0" indent="0" algn="l">
              <a:lnSpc>
                <a:spcPct val="96000"/>
              </a:lnSpc>
              <a:buNone/>
            </a:pPr>
            <a:r>
              <a:rPr lang="en-US" sz="1000" dirty="0">
                <a:solidFill>
                  <a:srgbClr val="FDC4C4"/>
                </a:solidFill>
                <a:latin typeface="Inter" pitchFamily="34" charset="0"/>
                <a:ea typeface="Inter" pitchFamily="34" charset="-122"/>
                <a:cs typeface="Inter" pitchFamily="34" charset="-120"/>
              </a:rPr>
              <a:t>REGLAS DE NEGOCIO</a:t>
            </a:r>
            <a:endParaRPr lang="en-US" sz="1000" dirty="0"/>
          </a:p>
        </p:txBody>
      </p:sp>
      <p:sp>
        <p:nvSpPr>
          <p:cNvPr id="4" name="Text 2"/>
          <p:cNvSpPr/>
          <p:nvPr/>
        </p:nvSpPr>
        <p:spPr>
          <a:xfrm>
            <a:off x="661475" y="844848"/>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EFD5FA"/>
                </a:solidFill>
                <a:latin typeface="Instrument Sans Medium" pitchFamily="34" charset="0"/>
                <a:ea typeface="Instrument Sans Medium" pitchFamily="34" charset="-122"/>
                <a:cs typeface="Instrument Sans Medium" pitchFamily="34" charset="-120"/>
              </a:rPr>
              <a:t>Validaciones de Flujo</a:t>
            </a:r>
            <a:endParaRPr lang="en-US" sz="3150" dirty="0"/>
          </a:p>
        </p:txBody>
      </p:sp>
      <p:pic>
        <p:nvPicPr>
          <p:cNvPr id="5" name="Image 0" descr="preencoded.png"/>
          <p:cNvPicPr>
            <a:picLocks noChangeAspect="1"/>
          </p:cNvPicPr>
          <p:nvPr/>
        </p:nvPicPr>
        <p:blipFill>
          <a:blip r:embed="rId3"/>
          <a:stretch>
            <a:fillRect/>
          </a:stretch>
        </p:blipFill>
        <p:spPr>
          <a:xfrm>
            <a:off x="1054371" y="1705273"/>
            <a:ext cx="4452628" cy="4452739"/>
          </a:xfrm>
          <a:prstGeom prst="rect">
            <a:avLst/>
          </a:prstGeom>
        </p:spPr>
      </p:pic>
      <p:sp>
        <p:nvSpPr>
          <p:cNvPr id="6" name="Text 3"/>
          <p:cNvSpPr/>
          <p:nvPr/>
        </p:nvSpPr>
        <p:spPr>
          <a:xfrm>
            <a:off x="6298149" y="2670969"/>
            <a:ext cx="5238421" cy="251023"/>
          </a:xfrm>
          <a:prstGeom prst="rect">
            <a:avLst/>
          </a:prstGeom>
          <a:noFill/>
          <a:ln/>
        </p:spPr>
        <p:txBody>
          <a:bodyPr wrap="none" lIns="0" tIns="0" rIns="0" bIns="0" rtlCol="0" anchor="t"/>
          <a:lstStyle/>
          <a:p>
            <a:pPr marL="0" indent="0" algn="l">
              <a:lnSpc>
                <a:spcPct val="104000"/>
              </a:lnSpc>
              <a:buNone/>
            </a:pPr>
            <a:r>
              <a:rPr lang="en-US" sz="1550" dirty="0">
                <a:solidFill>
                  <a:srgbClr val="EFD5FA"/>
                </a:solidFill>
                <a:latin typeface="Instrument Sans Medium" pitchFamily="34" charset="0"/>
                <a:ea typeface="Instrument Sans Medium" pitchFamily="34" charset="-122"/>
                <a:cs typeface="Instrument Sans Medium" pitchFamily="34" charset="-120"/>
              </a:rPr>
              <a:t>Implementación en Código</a:t>
            </a:r>
            <a:endParaRPr lang="en-US" sz="1550" dirty="0"/>
          </a:p>
        </p:txBody>
      </p:sp>
      <p:sp>
        <p:nvSpPr>
          <p:cNvPr id="7" name="Text 4"/>
          <p:cNvSpPr/>
          <p:nvPr/>
        </p:nvSpPr>
        <p:spPr>
          <a:xfrm>
            <a:off x="6298149" y="3058517"/>
            <a:ext cx="5238421" cy="2147491"/>
          </a:xfrm>
          <a:prstGeom prst="rect">
            <a:avLst/>
          </a:prstGeom>
          <a:noFill/>
          <a:ln/>
        </p:spPr>
        <p:txBody>
          <a:bodyPr wrap="square" lIns="0" tIns="0" rIns="0" bIns="0" rtlCol="0" anchor="t">
            <a:normAutofit/>
          </a:bodyPr>
          <a:lstStyle/>
          <a:p>
            <a:pPr marL="0" indent="0" algn="l">
              <a:lnSpc>
                <a:spcPct val="123000"/>
              </a:lnSpc>
              <a:spcAft>
                <a:spcPts val="950"/>
              </a:spcAft>
              <a:buNone/>
            </a:pPr>
            <a:r>
              <a:rPr lang="en-US" sz="1250" dirty="0">
                <a:solidFill>
                  <a:srgbClr val="C7CDD6"/>
                </a:solidFill>
                <a:latin typeface="Inter" pitchFamily="34" charset="0"/>
                <a:ea typeface="Inter" pitchFamily="34" charset="-122"/>
                <a:cs typeface="Inter" pitchFamily="34" charset="-120"/>
              </a:rPr>
              <a:t>El código de inmueble se inyecta como parámetro obligatorio en el constructor de </a:t>
            </a:r>
            <a:r>
              <a:rPr lang="en-US" sz="1250" dirty="0">
                <a:solidFill>
                  <a:srgbClr val="C7CDD6"/>
                </a:solidFill>
                <a:highlight>
                  <a:srgbClr val="313136"/>
                </a:highlight>
                <a:latin typeface="Consolas" pitchFamily="34" charset="0"/>
                <a:ea typeface="Consolas" pitchFamily="34" charset="-122"/>
                <a:cs typeface="Consolas" pitchFamily="34" charset="-120"/>
              </a:rPr>
              <a:t>CrearInventario</a:t>
            </a:r>
            <a:r>
              <a:rPr lang="en-US" sz="1250" dirty="0">
                <a:solidFill>
                  <a:srgbClr val="C7CDD6"/>
                </a:solidFill>
                <a:latin typeface="Inter" pitchFamily="34" charset="0"/>
                <a:ea typeface="Inter" pitchFamily="34" charset="-122"/>
                <a:cs typeface="Inter" pitchFamily="34" charset="-120"/>
              </a:rPr>
              <a:t>, garantizando la trazabilidad de cada registro (RN-02).</a:t>
            </a:r>
            <a:endParaRPr lang="en-US" sz="1250" dirty="0"/>
          </a:p>
          <a:p>
            <a:pPr marL="0" indent="0" algn="l">
              <a:lnSpc>
                <a:spcPct val="123000"/>
              </a:lnSpc>
              <a:spcAft>
                <a:spcPts val="950"/>
              </a:spcAft>
              <a:buNone/>
            </a:pPr>
            <a:r>
              <a:rPr lang="en-US" sz="1250" dirty="0">
                <a:solidFill>
                  <a:srgbClr val="C7CDD6"/>
                </a:solidFill>
                <a:latin typeface="Inter" pitchFamily="34" charset="0"/>
                <a:ea typeface="Inter" pitchFamily="34" charset="-122"/>
                <a:cs typeface="Inter" pitchFamily="34" charset="-120"/>
              </a:rPr>
              <a:t>Las zonas fijas de inspección — </a:t>
            </a:r>
            <a:r>
              <a:rPr lang="en-US" sz="1250" b="1" dirty="0">
                <a:solidFill>
                  <a:srgbClr val="C7CDD6"/>
                </a:solidFill>
                <a:latin typeface="Inter Bold" pitchFamily="34" charset="0"/>
                <a:ea typeface="Inter Bold" pitchFamily="34" charset="-122"/>
                <a:cs typeface="Inter Bold" pitchFamily="34" charset="-120"/>
              </a:rPr>
              <a:t>Paredes</a:t>
            </a:r>
            <a:r>
              <a:rPr lang="en-US" sz="1250" dirty="0">
                <a:solidFill>
                  <a:srgbClr val="C7CDD6"/>
                </a:solidFill>
                <a:latin typeface="Inter" pitchFamily="34" charset="0"/>
                <a:ea typeface="Inter" pitchFamily="34" charset="-122"/>
                <a:cs typeface="Inter" pitchFamily="34" charset="-120"/>
              </a:rPr>
              <a:t>, </a:t>
            </a:r>
            <a:r>
              <a:rPr lang="en-US" sz="1250" b="1" dirty="0">
                <a:solidFill>
                  <a:srgbClr val="C7CDD6"/>
                </a:solidFill>
                <a:latin typeface="Inter Bold" pitchFamily="34" charset="0"/>
                <a:ea typeface="Inter Bold" pitchFamily="34" charset="-122"/>
                <a:cs typeface="Inter Bold" pitchFamily="34" charset="-120"/>
              </a:rPr>
              <a:t>Cocina</a:t>
            </a:r>
            <a:r>
              <a:rPr lang="en-US" sz="1250" dirty="0">
                <a:solidFill>
                  <a:srgbClr val="C7CDD6"/>
                </a:solidFill>
                <a:latin typeface="Inter" pitchFamily="34" charset="0"/>
                <a:ea typeface="Inter" pitchFamily="34" charset="-122"/>
                <a:cs typeface="Inter" pitchFamily="34" charset="-120"/>
              </a:rPr>
              <a:t> y </a:t>
            </a:r>
            <a:r>
              <a:rPr lang="en-US" sz="1250" b="1" dirty="0">
                <a:solidFill>
                  <a:srgbClr val="C7CDD6"/>
                </a:solidFill>
                <a:latin typeface="Inter Bold" pitchFamily="34" charset="0"/>
                <a:ea typeface="Inter Bold" pitchFamily="34" charset="-122"/>
                <a:cs typeface="Inter Bold" pitchFamily="34" charset="-120"/>
              </a:rPr>
              <a:t>Sala</a:t>
            </a:r>
            <a:r>
              <a:rPr lang="en-US" sz="1250" dirty="0">
                <a:solidFill>
                  <a:srgbClr val="C7CDD6"/>
                </a:solidFill>
                <a:latin typeface="Inter" pitchFamily="34" charset="0"/>
                <a:ea typeface="Inter" pitchFamily="34" charset="-122"/>
                <a:cs typeface="Inter" pitchFamily="34" charset="-120"/>
              </a:rPr>
              <a:t> — están encapsuladas como constantes, asegurando integridad contextual (RN-04/RN-05).</a:t>
            </a:r>
            <a:endParaRPr lang="en-US" sz="1250" dirty="0"/>
          </a:p>
          <a:p>
            <a:pPr marL="0" indent="0" algn="l">
              <a:lnSpc>
                <a:spcPct val="123000"/>
              </a:lnSpc>
              <a:buNone/>
            </a:pPr>
            <a:r>
              <a:rPr lang="en-US" sz="1250" dirty="0">
                <a:solidFill>
                  <a:srgbClr val="C7CDD6"/>
                </a:solidFill>
                <a:latin typeface="Inter" pitchFamily="34" charset="0"/>
                <a:ea typeface="Inter" pitchFamily="34" charset="-122"/>
                <a:cs typeface="Inter" pitchFamily="34" charset="-120"/>
              </a:rPr>
              <a:t>El enrutamiento final valida que el destinatario pertenezca estrictamente a la terna admitida de stakeholders (RN-06).</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F8339-EA1A-171F-7BC4-4257B403AD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3FB818-110F-1C47-45A5-3EA84F88C60D}"/>
              </a:ext>
            </a:extLst>
          </p:cNvPr>
          <p:cNvSpPr/>
          <p:nvPr/>
        </p:nvSpPr>
        <p:spPr>
          <a:xfrm>
            <a:off x="661475" y="546298"/>
            <a:ext cx="1529220" cy="243979"/>
          </a:xfrm>
          <a:prstGeom prst="roundRect">
            <a:avLst>
              <a:gd name="adj" fmla="val 7902"/>
            </a:avLst>
          </a:prstGeom>
          <a:noFill/>
          <a:ln w="6350">
            <a:solidFill>
              <a:srgbClr val="FDC4C4"/>
            </a:solidFill>
            <a:prstDash val="solid"/>
          </a:ln>
        </p:spPr>
        <p:txBody>
          <a:bodyPr/>
          <a:lstStyle/>
          <a:p>
            <a:endParaRPr lang="es-CO"/>
          </a:p>
        </p:txBody>
      </p:sp>
      <p:sp>
        <p:nvSpPr>
          <p:cNvPr id="3" name="Text 1">
            <a:extLst>
              <a:ext uri="{FF2B5EF4-FFF2-40B4-BE49-F238E27FC236}">
                <a16:creationId xmlns:a16="http://schemas.microsoft.com/office/drawing/2014/main" id="{CAD7E047-AD34-F92E-0DA6-15BE7AFD0C5C}"/>
              </a:ext>
            </a:extLst>
          </p:cNvPr>
          <p:cNvSpPr/>
          <p:nvPr/>
        </p:nvSpPr>
        <p:spPr>
          <a:xfrm>
            <a:off x="757814" y="594420"/>
            <a:ext cx="1946127" cy="147737"/>
          </a:xfrm>
          <a:prstGeom prst="rect">
            <a:avLst/>
          </a:prstGeom>
          <a:noFill/>
          <a:ln/>
        </p:spPr>
        <p:txBody>
          <a:bodyPr wrap="none" lIns="0" tIns="0" rIns="0" bIns="0" rtlCol="0" anchor="t"/>
          <a:lstStyle/>
          <a:p>
            <a:pPr marL="0" indent="0" algn="l">
              <a:lnSpc>
                <a:spcPct val="96000"/>
              </a:lnSpc>
              <a:buNone/>
            </a:pPr>
            <a:r>
              <a:rPr lang="en-US" sz="1000" dirty="0">
                <a:solidFill>
                  <a:srgbClr val="FDC4C4"/>
                </a:solidFill>
                <a:latin typeface="Inter" pitchFamily="34" charset="0"/>
                <a:ea typeface="Inter" pitchFamily="34" charset="-122"/>
                <a:cs typeface="Inter" pitchFamily="34" charset="-120"/>
              </a:rPr>
              <a:t>REGLAS DE NEGOCIO</a:t>
            </a:r>
            <a:endParaRPr lang="en-US" sz="1000" dirty="0"/>
          </a:p>
        </p:txBody>
      </p:sp>
      <p:sp>
        <p:nvSpPr>
          <p:cNvPr id="4" name="Text 2">
            <a:extLst>
              <a:ext uri="{FF2B5EF4-FFF2-40B4-BE49-F238E27FC236}">
                <a16:creationId xmlns:a16="http://schemas.microsoft.com/office/drawing/2014/main" id="{3156A00C-27D0-E1BC-441B-B87B264DE35B}"/>
              </a:ext>
            </a:extLst>
          </p:cNvPr>
          <p:cNvSpPr/>
          <p:nvPr/>
        </p:nvSpPr>
        <p:spPr>
          <a:xfrm>
            <a:off x="661475" y="844848"/>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EFD5FA"/>
                </a:solidFill>
                <a:latin typeface="Instrument Sans Medium" pitchFamily="34" charset="0"/>
                <a:ea typeface="Instrument Sans Medium" pitchFamily="34" charset="-122"/>
                <a:cs typeface="Instrument Sans Medium" pitchFamily="34" charset="-120"/>
              </a:rPr>
              <a:t>Validaciones de Flujo</a:t>
            </a:r>
            <a:endParaRPr lang="en-US" sz="3150" dirty="0"/>
          </a:p>
        </p:txBody>
      </p:sp>
      <p:sp>
        <p:nvSpPr>
          <p:cNvPr id="9" name="TextBox 5">
            <a:extLst>
              <a:ext uri="{FF2B5EF4-FFF2-40B4-BE49-F238E27FC236}">
                <a16:creationId xmlns:a16="http://schemas.microsoft.com/office/drawing/2014/main" id="{7A1F3698-7BE4-CB8F-927C-16A484BC64C2}"/>
              </a:ext>
            </a:extLst>
          </p:cNvPr>
          <p:cNvSpPr txBox="1"/>
          <p:nvPr/>
        </p:nvSpPr>
        <p:spPr>
          <a:xfrm>
            <a:off x="661475" y="1795549"/>
            <a:ext cx="5120640" cy="4389120"/>
          </a:xfrm>
          <a:prstGeom prst="rect">
            <a:avLst/>
          </a:prstGeom>
          <a:noFill/>
        </p:spPr>
        <p:txBody>
          <a:bodyPr wrap="square">
            <a:spAutoFit/>
          </a:bodyPr>
          <a:lstStyle/>
          <a:p>
            <a:pPr>
              <a:defRPr sz="1100">
                <a:solidFill>
                  <a:srgbClr val="286E28"/>
                </a:solidFill>
                <a:latin typeface="Courier New"/>
              </a:defRPr>
            </a:pPr>
            <a:r>
              <a:rPr dirty="0"/>
              <a:t>// RN-02/03: </a:t>
            </a:r>
            <a:r>
              <a:rPr dirty="0" err="1"/>
              <a:t>Inyección</a:t>
            </a:r>
            <a:r>
              <a:rPr dirty="0"/>
              <a:t> </a:t>
            </a:r>
            <a:r>
              <a:rPr dirty="0" err="1"/>
              <a:t>mandatoria</a:t>
            </a:r>
            <a:r>
              <a:rPr dirty="0"/>
              <a:t> de </a:t>
            </a:r>
            <a:r>
              <a:rPr dirty="0" err="1"/>
              <a:t>código</a:t>
            </a:r>
            <a:r>
              <a:rPr dirty="0"/>
              <a:t> en </a:t>
            </a:r>
            <a:r>
              <a:rPr dirty="0" err="1"/>
              <a:t>crear</a:t>
            </a:r>
            <a:r>
              <a:rPr dirty="0"/>
              <a:t>_-</a:t>
            </a:r>
            <a:r>
              <a:rPr dirty="0" err="1"/>
              <a:t>inventario.dart</a:t>
            </a:r>
            <a:br>
              <a:rPr dirty="0"/>
            </a:br>
            <a:r>
              <a:rPr dirty="0"/>
              <a:t>class </a:t>
            </a:r>
            <a:r>
              <a:rPr dirty="0" err="1"/>
              <a:t>CrearInventario</a:t>
            </a:r>
            <a:r>
              <a:rPr dirty="0"/>
              <a:t> extends </a:t>
            </a:r>
            <a:r>
              <a:rPr dirty="0" err="1"/>
              <a:t>StatefulWidget</a:t>
            </a:r>
            <a:r>
              <a:rPr dirty="0"/>
              <a:t> {</a:t>
            </a:r>
            <a:br>
              <a:rPr dirty="0"/>
            </a:br>
            <a:r>
              <a:rPr dirty="0"/>
              <a:t>  final String </a:t>
            </a:r>
            <a:r>
              <a:rPr dirty="0" err="1"/>
              <a:t>codigoInmueble</a:t>
            </a:r>
            <a:r>
              <a:rPr dirty="0"/>
              <a:t>;</a:t>
            </a:r>
            <a:br>
              <a:rPr dirty="0"/>
            </a:br>
            <a:br>
              <a:rPr dirty="0"/>
            </a:br>
            <a:r>
              <a:rPr dirty="0"/>
              <a:t>  const </a:t>
            </a:r>
            <a:r>
              <a:rPr dirty="0" err="1"/>
              <a:t>CrearInventario</a:t>
            </a:r>
            <a:r>
              <a:rPr dirty="0"/>
              <a:t>({</a:t>
            </a:r>
            <a:br>
              <a:rPr dirty="0"/>
            </a:br>
            <a:r>
              <a:rPr dirty="0"/>
              <a:t>    </a:t>
            </a:r>
            <a:r>
              <a:rPr dirty="0" err="1"/>
              <a:t>super.key</a:t>
            </a:r>
            <a:r>
              <a:rPr dirty="0"/>
              <a:t>, </a:t>
            </a:r>
            <a:br>
              <a:rPr dirty="0"/>
            </a:br>
            <a:r>
              <a:rPr dirty="0"/>
              <a:t>    required </a:t>
            </a:r>
            <a:r>
              <a:rPr dirty="0" err="1"/>
              <a:t>this.codigoInmueble</a:t>
            </a:r>
            <a:br>
              <a:rPr dirty="0"/>
            </a:br>
            <a:r>
              <a:rPr dirty="0"/>
              <a:t>  });</a:t>
            </a:r>
            <a:br>
              <a:rPr dirty="0"/>
            </a:br>
            <a:r>
              <a:rPr dirty="0"/>
              <a:t>  // ...</a:t>
            </a:r>
            <a:br>
              <a:rPr dirty="0"/>
            </a:br>
            <a:r>
              <a:rPr dirty="0"/>
              <a:t>}</a:t>
            </a:r>
          </a:p>
        </p:txBody>
      </p:sp>
    </p:spTree>
    <p:extLst>
      <p:ext uri="{BB962C8B-B14F-4D97-AF65-F5344CB8AC3E}">
        <p14:creationId xmlns:p14="http://schemas.microsoft.com/office/powerpoint/2010/main" val="1622528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495300"/>
            <a:ext cx="2131364" cy="211832"/>
          </a:xfrm>
          <a:prstGeom prst="roundRect">
            <a:avLst>
              <a:gd name="adj" fmla="val 7905"/>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45114" y="537071"/>
            <a:ext cx="2573670" cy="128290"/>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ARQUITECTURA DE ENRUTAMIENTO</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754162"/>
            <a:ext cx="10868745" cy="43606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7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Flujo de Rutas </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1366838"/>
            <a:ext cx="10868745" cy="617637"/>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El enrutamiento secuencial de la aplicación está diseñado para guiar al inventarista de manera intuitiva a través de cada etapa del proceso de inspección. Cada pantalla tiene una responsabilidad clara y transiciones controladas que mantienen la coherencia del flujo de trabajo. A continuación se detalla la arquitectura completa de navegación implementada en el prototipo.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1475" y="2116931"/>
            <a:ext cx="279095" cy="174427"/>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strument Sans" pitchFamily="34" charset="0"/>
                <a:ea typeface="Instrument Sans" pitchFamily="34" charset="-122"/>
                <a:cs typeface="Instrument Sans" pitchFamily="34" charset="-120"/>
              </a:rPr>
              <a:t>01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61475" y="2335014"/>
            <a:ext cx="5375537" cy="19050"/>
          </a:xfrm>
          <a:prstGeom prst="rect">
            <a:avLst/>
          </a:prstGeom>
          <a:solidFill>
            <a:srgbClr val="FDC4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61475" y="2442865"/>
            <a:ext cx="5375537" cy="21798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P-01 Login — widgetMenuInicio</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61475" y="2731492"/>
            <a:ext cx="5375537" cy="617637"/>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Punto de acceso inicial de la aplicación. Gestiona la autenticación de inventaristas y técnicos con campos optimizados para credenciales. Transiciona mediante botón directo hacia el panel principal una vez validado el acceso.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154683" y="2116931"/>
            <a:ext cx="279095" cy="174427"/>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strument Sans" pitchFamily="34" charset="0"/>
                <a:ea typeface="Instrument Sans" pitchFamily="34" charset="-122"/>
                <a:cs typeface="Instrument Sans" pitchFamily="34" charset="-120"/>
              </a:rPr>
              <a:t>02</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6154683" y="2335014"/>
            <a:ext cx="5375537" cy="19050"/>
          </a:xfrm>
          <a:prstGeom prst="rect">
            <a:avLst/>
          </a:prstGeom>
          <a:solidFill>
            <a:srgbClr val="FDC4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6154683" y="2442865"/>
            <a:ext cx="5375537" cy="21798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P-02 Lista de Inmuebles — ListaInventarios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154683" y="2731492"/>
            <a:ext cx="5375537" cy="617637"/>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Vista general que actúa como nodo central de consulta. Despliega tarjetas jerárquicas de propiedades con previsualización de imágenes fijas en memoria. Desde aquí se activa el flujo de creación de nuevos inventarios.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61475" y="3571379"/>
            <a:ext cx="279095" cy="174427"/>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strument Sans" pitchFamily="34" charset="0"/>
                <a:ea typeface="Instrument Sans" pitchFamily="34" charset="-122"/>
                <a:cs typeface="Instrument Sans" pitchFamily="34" charset="-120"/>
              </a:rPr>
              <a:t>03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661475" y="3789462"/>
            <a:ext cx="5375537" cy="19050"/>
          </a:xfrm>
          <a:prstGeom prst="rect">
            <a:avLst/>
          </a:prstGeom>
          <a:solidFill>
            <a:srgbClr val="FDC4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61475" y="3897312"/>
            <a:ext cx="5375537" cy="21798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P-03 Configuración — PantallaNuevoInmueble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61475" y="4185940"/>
            <a:ext cx="5375537" cy="617637"/>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Formulario intermedio para parametrizar la inspección. Vincula el código del inmueble y configura los parámetros iniciales del proceso de captura antes de ingresar al módulo operativo detallado.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154683" y="3571379"/>
            <a:ext cx="279095" cy="174427"/>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strument Sans" pitchFamily="34" charset="0"/>
                <a:ea typeface="Instrument Sans" pitchFamily="34" charset="-122"/>
                <a:cs typeface="Instrument Sans" pitchFamily="34" charset="-120"/>
              </a:rPr>
              <a:t>04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154683" y="3789462"/>
            <a:ext cx="5375537" cy="19050"/>
          </a:xfrm>
          <a:prstGeom prst="rect">
            <a:avLst/>
          </a:prstGeom>
          <a:solidFill>
            <a:srgbClr val="FDC4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154683" y="3897312"/>
            <a:ext cx="5375537" cy="21798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P-04 Captura — CrearInventario</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154683" y="4185940"/>
            <a:ext cx="5375537" cy="617637"/>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Panel operativo detallado segmentado por zonas fijas: Paredes, Cocina y Sala. Permite la captura de texto multilínea para estados y observaciones de cada área evaluada durante la inspección en campo.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61475" y="5025827"/>
            <a:ext cx="279095" cy="174427"/>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strument Sans" pitchFamily="34" charset="0"/>
                <a:ea typeface="Instrument Sans" pitchFamily="34" charset="-122"/>
                <a:cs typeface="Instrument Sans" pitchFamily="34" charset="-120"/>
              </a:rPr>
              <a:t>05</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661475" y="5243909"/>
            <a:ext cx="5375537" cy="19050"/>
          </a:xfrm>
          <a:prstGeom prst="rect">
            <a:avLst/>
          </a:prstGeom>
          <a:solidFill>
            <a:srgbClr val="FDC4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661475" y="5351760"/>
            <a:ext cx="5375537" cy="21798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P-05 Detalle — DetalleInmueble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661475" y="5640387"/>
            <a:ext cx="5375537" cy="617637"/>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Consolidación de datos que recibe e inyecta el identificador dinámico del inmueble inspeccionado. Funciona como validador centralizado que recupera el código capturado para asegurar la consistencia del flujo.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154683" y="5025827"/>
            <a:ext cx="279095" cy="174427"/>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strument Sans" pitchFamily="34" charset="0"/>
                <a:ea typeface="Instrument Sans" pitchFamily="34" charset="-122"/>
                <a:cs typeface="Instrument Sans" pitchFamily="34" charset="-120"/>
              </a:rPr>
              <a:t>06</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6154683" y="5243909"/>
            <a:ext cx="5375537" cy="19050"/>
          </a:xfrm>
          <a:prstGeom prst="rect">
            <a:avLst/>
          </a:prstGeom>
          <a:solidFill>
            <a:srgbClr val="FDC4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6154683" y="5351760"/>
            <a:ext cx="5375537" cy="21798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P-06 Distribución — EnviarInventario</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154683" y="5640387"/>
            <a:ext cx="5375537" cy="617637"/>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Vista de cierre del ciclo operativo. Panel con selectores interactivos de destinatarios (Inquilino, Propietario, Asesor) y notificación en pantalla mediante elementos emergentes nativos que informan el éxito de la operación.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493216"/>
            <a:ext cx="1121739" cy="168870"/>
          </a:xfrm>
          <a:prstGeom prst="roundRect">
            <a:avLst>
              <a:gd name="adj" fmla="val 7896"/>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28148" y="526554"/>
            <a:ext cx="1597977" cy="102195"/>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DATOS Y NAVEGACIÓN</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691952"/>
            <a:ext cx="10868745" cy="34726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1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Modelo de Datos</a:t>
            </a:r>
            <a:endParaRPr kumimoji="0" lang="en-US" sz="2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81506" y="1377008"/>
            <a:ext cx="10716033" cy="5213548"/>
          </a:xfrm>
          <a:prstGeom prst="roundRect">
            <a:avLst>
              <a:gd name="adj" fmla="val 320"/>
            </a:avLst>
          </a:prstGeom>
          <a:solidFill>
            <a:srgbClr val="C8C7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692629" y="1131901"/>
            <a:ext cx="9781248" cy="30252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0000"/>
                </a:solidFill>
                <a:effectLst/>
                <a:uLnTx/>
                <a:uFillTx/>
                <a:latin typeface="Instrument Sans Medium" pitchFamily="34" charset="0"/>
                <a:ea typeface="Instrument Sans Medium" pitchFamily="34" charset="-122"/>
                <a:cs typeface="Instrument Sans Medium" pitchFamily="34" charset="-120"/>
              </a:rPr>
              <a:t>Entidades del Modelo de Datos</a:t>
            </a:r>
            <a:endParaRPr kumimoji="0" lang="en-US" sz="105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 name="Text 5"/>
          <p:cNvSpPr/>
          <p:nvPr/>
        </p:nvSpPr>
        <p:spPr>
          <a:xfrm>
            <a:off x="692629" y="1473994"/>
            <a:ext cx="5846120" cy="148630"/>
          </a:xfrm>
          <a:prstGeom prst="rect">
            <a:avLst/>
          </a:prstGeom>
          <a:noFill/>
          <a:ln/>
        </p:spPr>
        <p:txBody>
          <a:bodyPr wrap="none" lIns="0" tIns="0" rIns="0" bIns="0" rtlCol="0" anchor="t"/>
          <a:lstStyle/>
          <a:p>
            <a:pPr marL="0" marR="0" lvl="0" indent="0" algn="l" defTabSz="914400" rtl="0" eaLnBrk="1" fontAlgn="auto" latinLnBrk="0" hangingPunct="1">
              <a:lnSpc>
                <a:spcPct val="111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Siete entidades definen la estructura informativa del sistema:</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92629" y="1689795"/>
            <a:ext cx="9716149" cy="3272366"/>
          </a:xfrm>
          <a:prstGeom prst="rect">
            <a:avLst/>
          </a:prstGeom>
          <a:noFill/>
          <a:ln/>
        </p:spPr>
        <p:txBody>
          <a:bodyPr wrap="square" lIns="0" tIns="0" rIns="0" bIns="0" rtlCol="0" anchor="t">
            <a:normAutofit/>
          </a:bodyPr>
          <a:lstStyle/>
          <a:p>
            <a:pPr marL="172720" marR="0" lvl="0" indent="-172720" algn="l" defTabSz="914400" rtl="0" eaLnBrk="1" fontAlgn="auto" latinLnBrk="0" hangingPunct="1">
              <a:lnSpc>
                <a:spcPct val="11100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Usuario</a:t>
            </a:r>
            <a:r>
              <a:rPr kumimoji="0" lang="en-US" sz="20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 Operador que ejecuta el inventario.</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2720" marR="0" lvl="0" indent="-172720" algn="l" defTabSz="914400" rtl="0" eaLnBrk="1" fontAlgn="auto" latinLnBrk="0" hangingPunct="1">
              <a:lnSpc>
                <a:spcPct val="11100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Inmueble</a:t>
            </a:r>
            <a:r>
              <a:rPr kumimoji="0" lang="en-US" sz="20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 Propiedad identificada por código único.</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2720" marR="0" lvl="0" indent="-172720" algn="l" defTabSz="914400" rtl="0" eaLnBrk="1" fontAlgn="auto" latinLnBrk="0" hangingPunct="1">
              <a:lnSpc>
                <a:spcPct val="11100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Inventario</a:t>
            </a:r>
            <a:r>
              <a:rPr kumimoji="0" lang="en-US" sz="20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 Registro consolidado de la inspección.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2720" marR="0" lvl="0" indent="-172720" algn="l" defTabSz="914400" rtl="0" eaLnBrk="1" fontAlgn="auto" latinLnBrk="0" hangingPunct="1">
              <a:lnSpc>
                <a:spcPct val="11100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Espacio</a:t>
            </a:r>
            <a:r>
              <a:rPr kumimoji="0" lang="en-US" sz="20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 Zonas físicas (Paredes, Cocina, Sala).</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2720" marR="0" lvl="0" indent="-172720" algn="l" defTabSz="914400" rtl="0" eaLnBrk="1" fontAlgn="auto" latinLnBrk="0" hangingPunct="1">
              <a:lnSpc>
                <a:spcPct val="11100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Elemento</a:t>
            </a:r>
            <a:r>
              <a:rPr kumimoji="0" lang="en-US" sz="20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 Componentes dentro de cada espacio.</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2720" marR="0" lvl="0" indent="-172720" algn="l" defTabSz="914400" rtl="0" eaLnBrk="1" fontAlgn="auto" latinLnBrk="0" hangingPunct="1">
              <a:lnSpc>
                <a:spcPct val="11100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Novedad</a:t>
            </a:r>
            <a:r>
              <a:rPr kumimoji="0" lang="en-US" sz="20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 Observaciones y hallazgos registrados.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2720" marR="0" lvl="0" indent="-172720" algn="l" defTabSz="914400" rtl="0" eaLnBrk="1" fontAlgn="auto" latinLnBrk="0" hangingPunct="1">
              <a:lnSpc>
                <a:spcPct val="11100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Foto</a:t>
            </a:r>
            <a:r>
              <a:rPr kumimoji="0" lang="en-US" sz="20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 Evidencia visual adjunta al registro.</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894461" y="5185404"/>
            <a:ext cx="9579416" cy="849261"/>
          </a:xfrm>
          <a:prstGeom prst="roundRect">
            <a:avLst>
              <a:gd name="adj" fmla="val 2622"/>
            </a:avLst>
          </a:prstGeom>
          <a:solidFill>
            <a:srgbClr val="02234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0" descr="preencoded.png"/>
          <p:cNvPicPr>
            <a:picLocks noChangeAspect="1"/>
          </p:cNvPicPr>
          <p:nvPr/>
        </p:nvPicPr>
        <p:blipFill>
          <a:blip r:embed="rId3"/>
          <a:stretch>
            <a:fillRect/>
          </a:stretch>
        </p:blipFill>
        <p:spPr>
          <a:xfrm>
            <a:off x="803751" y="3090168"/>
            <a:ext cx="138903" cy="111125"/>
          </a:xfrm>
          <a:prstGeom prst="rect">
            <a:avLst/>
          </a:prstGeom>
        </p:spPr>
      </p:pic>
      <p:sp>
        <p:nvSpPr>
          <p:cNvPr id="11" name="Text 8"/>
          <p:cNvSpPr/>
          <p:nvPr/>
        </p:nvSpPr>
        <p:spPr>
          <a:xfrm>
            <a:off x="1164897" y="5384006"/>
            <a:ext cx="9081509" cy="44588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1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Sin base de datos activa, las colecciones de prueba están declaradas en arreglos nativos. Ejemplo: </a:t>
            </a:r>
            <a:r>
              <a:rPr kumimoji="0" lang="en-US" sz="850" b="0" i="0" u="none" strike="noStrike" kern="1200" cap="none" spc="0" normalizeH="0" baseline="0" noProof="0" dirty="0">
                <a:ln>
                  <a:noFill/>
                </a:ln>
                <a:solidFill>
                  <a:srgbClr val="000000"/>
                </a:solidFill>
                <a:effectLst/>
                <a:highlight>
                  <a:srgbClr val="BBBAF2"/>
                </a:highlight>
                <a:uLnTx/>
                <a:uFillTx/>
                <a:latin typeface="Consolas" pitchFamily="34" charset="0"/>
                <a:ea typeface="Consolas" pitchFamily="34" charset="-122"/>
                <a:cs typeface="Consolas" pitchFamily="34" charset="-120"/>
              </a:rPr>
              <a:t>_ListaInventariosState</a:t>
            </a:r>
            <a:r>
              <a:rPr kumimoji="0" lang="en-US" sz="8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usa códigos fijos </a:t>
            </a:r>
            <a:r>
              <a:rPr kumimoji="0" lang="en-US" sz="850" b="0" i="0" u="none" strike="noStrike" kern="1200" cap="none" spc="0" normalizeH="0" baseline="0" noProof="0" dirty="0">
                <a:ln>
                  <a:noFill/>
                </a:ln>
                <a:solidFill>
                  <a:srgbClr val="000000"/>
                </a:solidFill>
                <a:effectLst/>
                <a:highlight>
                  <a:srgbClr val="BBBAF2"/>
                </a:highlight>
                <a:uLnTx/>
                <a:uFillTx/>
                <a:latin typeface="Consolas" pitchFamily="34" charset="0"/>
                <a:ea typeface="Consolas" pitchFamily="34" charset="-122"/>
                <a:cs typeface="Consolas" pitchFamily="34" charset="-120"/>
              </a:rPr>
              <a:t>['79940', '79941']</a:t>
            </a:r>
            <a:r>
              <a:rPr kumimoji="0" lang="en-US" sz="8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y rutas locales a imágenes </a:t>
            </a:r>
            <a:r>
              <a:rPr kumimoji="0" lang="en-US" sz="850" b="0" i="0" u="none" strike="noStrike" kern="1200" cap="none" spc="0" normalizeH="0" baseline="0" noProof="0" dirty="0">
                <a:ln>
                  <a:noFill/>
                </a:ln>
                <a:solidFill>
                  <a:srgbClr val="000000"/>
                </a:solidFill>
                <a:effectLst/>
                <a:highlight>
                  <a:srgbClr val="BBBAF2"/>
                </a:highlight>
                <a:uLnTx/>
                <a:uFillTx/>
                <a:latin typeface="Consolas" pitchFamily="34" charset="0"/>
                <a:ea typeface="Consolas" pitchFamily="34" charset="-122"/>
                <a:cs typeface="Consolas" pitchFamily="34" charset="-120"/>
              </a:rPr>
              <a:t>assets/img/placeholders/</a:t>
            </a:r>
            <a:r>
              <a:rPr kumimoji="0" lang="en-US" sz="8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9B833-3DF6-8C29-46AB-770108F26AC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51D7184-B07F-9789-A9A3-C771ADA96E64}"/>
              </a:ext>
            </a:extLst>
          </p:cNvPr>
          <p:cNvSpPr/>
          <p:nvPr/>
        </p:nvSpPr>
        <p:spPr>
          <a:xfrm>
            <a:off x="661475" y="493216"/>
            <a:ext cx="1121739" cy="168870"/>
          </a:xfrm>
          <a:prstGeom prst="roundRect">
            <a:avLst>
              <a:gd name="adj" fmla="val 7896"/>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52E5575B-9468-295E-C714-B9808AE141E7}"/>
              </a:ext>
            </a:extLst>
          </p:cNvPr>
          <p:cNvSpPr/>
          <p:nvPr/>
        </p:nvSpPr>
        <p:spPr>
          <a:xfrm>
            <a:off x="728148" y="526554"/>
            <a:ext cx="1597977" cy="102195"/>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DATOS Y NAVEGACIÓN</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10146C92-32AD-927E-E94C-007652B01166}"/>
              </a:ext>
            </a:extLst>
          </p:cNvPr>
          <p:cNvSpPr/>
          <p:nvPr/>
        </p:nvSpPr>
        <p:spPr>
          <a:xfrm>
            <a:off x="661475" y="691952"/>
            <a:ext cx="10868745" cy="34726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1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Modelo de Datos</a:t>
            </a:r>
            <a:endParaRPr kumimoji="0" lang="en-US" sz="2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12E431B9-E046-D045-CCDF-740C84F95EB6}"/>
              </a:ext>
            </a:extLst>
          </p:cNvPr>
          <p:cNvSpPr/>
          <p:nvPr/>
        </p:nvSpPr>
        <p:spPr>
          <a:xfrm>
            <a:off x="894461" y="5185404"/>
            <a:ext cx="9579416" cy="849261"/>
          </a:xfrm>
          <a:prstGeom prst="roundRect">
            <a:avLst>
              <a:gd name="adj" fmla="val 2622"/>
            </a:avLst>
          </a:prstGeom>
          <a:solidFill>
            <a:srgbClr val="02234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0" descr="preencoded.png">
            <a:extLst>
              <a:ext uri="{FF2B5EF4-FFF2-40B4-BE49-F238E27FC236}">
                <a16:creationId xmlns:a16="http://schemas.microsoft.com/office/drawing/2014/main" id="{D1D9E9EA-D9A6-D20A-1F30-2919DB682028}"/>
              </a:ext>
            </a:extLst>
          </p:cNvPr>
          <p:cNvPicPr>
            <a:picLocks noChangeAspect="1"/>
          </p:cNvPicPr>
          <p:nvPr/>
        </p:nvPicPr>
        <p:blipFill>
          <a:blip r:embed="rId3"/>
          <a:stretch>
            <a:fillRect/>
          </a:stretch>
        </p:blipFill>
        <p:spPr>
          <a:xfrm>
            <a:off x="803751" y="3090168"/>
            <a:ext cx="138903" cy="111125"/>
          </a:xfrm>
          <a:prstGeom prst="rect">
            <a:avLst/>
          </a:prstGeom>
        </p:spPr>
      </p:pic>
      <p:sp>
        <p:nvSpPr>
          <p:cNvPr id="11" name="Text 8">
            <a:extLst>
              <a:ext uri="{FF2B5EF4-FFF2-40B4-BE49-F238E27FC236}">
                <a16:creationId xmlns:a16="http://schemas.microsoft.com/office/drawing/2014/main" id="{1D433253-9A1B-8FF6-B0F2-4BFF40CF1811}"/>
              </a:ext>
            </a:extLst>
          </p:cNvPr>
          <p:cNvSpPr/>
          <p:nvPr/>
        </p:nvSpPr>
        <p:spPr>
          <a:xfrm>
            <a:off x="1164897" y="5384006"/>
            <a:ext cx="9081509" cy="44588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1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Sin base de datos activa, las colecciones de prueba están declaradas en arreglos nativos. Ejemplo: </a:t>
            </a:r>
            <a:r>
              <a:rPr kumimoji="0" lang="en-US" sz="850" b="0" i="0" u="none" strike="noStrike" kern="1200" cap="none" spc="0" normalizeH="0" baseline="0" noProof="0" dirty="0">
                <a:ln>
                  <a:noFill/>
                </a:ln>
                <a:solidFill>
                  <a:srgbClr val="000000"/>
                </a:solidFill>
                <a:effectLst/>
                <a:highlight>
                  <a:srgbClr val="BBBAF2"/>
                </a:highlight>
                <a:uLnTx/>
                <a:uFillTx/>
                <a:latin typeface="Consolas" pitchFamily="34" charset="0"/>
                <a:ea typeface="Consolas" pitchFamily="34" charset="-122"/>
                <a:cs typeface="Consolas" pitchFamily="34" charset="-120"/>
              </a:rPr>
              <a:t>_ListaInventariosState</a:t>
            </a:r>
            <a:r>
              <a:rPr kumimoji="0" lang="en-US" sz="8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usa códigos fijos </a:t>
            </a:r>
            <a:r>
              <a:rPr kumimoji="0" lang="en-US" sz="850" b="0" i="0" u="none" strike="noStrike" kern="1200" cap="none" spc="0" normalizeH="0" baseline="0" noProof="0" dirty="0">
                <a:ln>
                  <a:noFill/>
                </a:ln>
                <a:solidFill>
                  <a:srgbClr val="000000"/>
                </a:solidFill>
                <a:effectLst/>
                <a:highlight>
                  <a:srgbClr val="BBBAF2"/>
                </a:highlight>
                <a:uLnTx/>
                <a:uFillTx/>
                <a:latin typeface="Consolas" pitchFamily="34" charset="0"/>
                <a:ea typeface="Consolas" pitchFamily="34" charset="-122"/>
                <a:cs typeface="Consolas" pitchFamily="34" charset="-120"/>
              </a:rPr>
              <a:t>['79940', '79941']</a:t>
            </a:r>
            <a:r>
              <a:rPr kumimoji="0" lang="en-US" sz="8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y rutas locales a imágenes </a:t>
            </a:r>
            <a:r>
              <a:rPr kumimoji="0" lang="en-US" sz="850" b="0" i="0" u="none" strike="noStrike" kern="1200" cap="none" spc="0" normalizeH="0" baseline="0" noProof="0" dirty="0">
                <a:ln>
                  <a:noFill/>
                </a:ln>
                <a:solidFill>
                  <a:srgbClr val="000000"/>
                </a:solidFill>
                <a:effectLst/>
                <a:highlight>
                  <a:srgbClr val="BBBAF2"/>
                </a:highlight>
                <a:uLnTx/>
                <a:uFillTx/>
                <a:latin typeface="Consolas" pitchFamily="34" charset="0"/>
                <a:ea typeface="Consolas" pitchFamily="34" charset="-122"/>
                <a:cs typeface="Consolas" pitchFamily="34" charset="-120"/>
              </a:rPr>
              <a:t>assets/img/placeholders/</a:t>
            </a:r>
            <a:r>
              <a:rPr kumimoji="0" lang="en-US" sz="8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5">
            <a:extLst>
              <a:ext uri="{FF2B5EF4-FFF2-40B4-BE49-F238E27FC236}">
                <a16:creationId xmlns:a16="http://schemas.microsoft.com/office/drawing/2014/main" id="{D3EF8F8B-BC03-7E4A-43FF-71184C7BE322}"/>
              </a:ext>
            </a:extLst>
          </p:cNvPr>
          <p:cNvSpPr txBox="1"/>
          <p:nvPr/>
        </p:nvSpPr>
        <p:spPr>
          <a:xfrm>
            <a:off x="803751" y="1440775"/>
            <a:ext cx="5120640" cy="4389120"/>
          </a:xfrm>
          <a:prstGeom prst="rect">
            <a:avLst/>
          </a:prstGeom>
          <a:noFill/>
        </p:spPr>
        <p:txBody>
          <a:bodyPr wrap="square">
            <a:spAutoFit/>
          </a:bodyPr>
          <a:lstStyle/>
          <a:p>
            <a:pPr>
              <a:defRPr sz="1100">
                <a:solidFill>
                  <a:srgbClr val="286E28"/>
                </a:solidFill>
                <a:latin typeface="Courier New"/>
              </a:defRPr>
            </a:pPr>
            <a:r>
              <a:rPr dirty="0"/>
              <a:t>// RN-02/03: </a:t>
            </a:r>
            <a:r>
              <a:rPr dirty="0" err="1"/>
              <a:t>Inyección</a:t>
            </a:r>
            <a:r>
              <a:rPr dirty="0"/>
              <a:t> </a:t>
            </a:r>
            <a:r>
              <a:rPr dirty="0" err="1"/>
              <a:t>mandatoria</a:t>
            </a:r>
            <a:r>
              <a:rPr dirty="0"/>
              <a:t> de </a:t>
            </a:r>
            <a:r>
              <a:rPr dirty="0" err="1"/>
              <a:t>código</a:t>
            </a:r>
            <a:r>
              <a:rPr dirty="0"/>
              <a:t> en </a:t>
            </a:r>
            <a:r>
              <a:rPr dirty="0" err="1"/>
              <a:t>crear</a:t>
            </a:r>
            <a:r>
              <a:rPr dirty="0"/>
              <a:t>_-</a:t>
            </a:r>
            <a:r>
              <a:rPr dirty="0" err="1"/>
              <a:t>inventario.dart</a:t>
            </a:r>
            <a:br>
              <a:rPr dirty="0"/>
            </a:br>
            <a:r>
              <a:rPr dirty="0"/>
              <a:t>class </a:t>
            </a:r>
            <a:r>
              <a:rPr dirty="0" err="1"/>
              <a:t>CrearInventario</a:t>
            </a:r>
            <a:r>
              <a:rPr dirty="0"/>
              <a:t> extends </a:t>
            </a:r>
            <a:r>
              <a:rPr dirty="0" err="1"/>
              <a:t>StatefulWidget</a:t>
            </a:r>
            <a:r>
              <a:rPr dirty="0"/>
              <a:t> {</a:t>
            </a:r>
            <a:br>
              <a:rPr dirty="0"/>
            </a:br>
            <a:r>
              <a:rPr dirty="0"/>
              <a:t>  final String </a:t>
            </a:r>
            <a:r>
              <a:rPr dirty="0" err="1"/>
              <a:t>codigoInmueble</a:t>
            </a:r>
            <a:r>
              <a:rPr dirty="0"/>
              <a:t>;</a:t>
            </a:r>
            <a:br>
              <a:rPr dirty="0"/>
            </a:br>
            <a:br>
              <a:rPr dirty="0"/>
            </a:br>
            <a:r>
              <a:rPr dirty="0"/>
              <a:t>  const </a:t>
            </a:r>
            <a:r>
              <a:rPr dirty="0" err="1"/>
              <a:t>CrearInventario</a:t>
            </a:r>
            <a:r>
              <a:rPr dirty="0"/>
              <a:t>({</a:t>
            </a:r>
            <a:br>
              <a:rPr dirty="0"/>
            </a:br>
            <a:r>
              <a:rPr dirty="0"/>
              <a:t>    </a:t>
            </a:r>
            <a:r>
              <a:rPr dirty="0" err="1"/>
              <a:t>super.key</a:t>
            </a:r>
            <a:r>
              <a:rPr dirty="0"/>
              <a:t>, </a:t>
            </a:r>
            <a:br>
              <a:rPr dirty="0"/>
            </a:br>
            <a:r>
              <a:rPr dirty="0"/>
              <a:t>    required </a:t>
            </a:r>
            <a:r>
              <a:rPr dirty="0" err="1"/>
              <a:t>this.codigoInmueble</a:t>
            </a:r>
            <a:br>
              <a:rPr dirty="0"/>
            </a:br>
            <a:r>
              <a:rPr dirty="0"/>
              <a:t>  });</a:t>
            </a:r>
            <a:br>
              <a:rPr dirty="0"/>
            </a:br>
            <a:r>
              <a:rPr dirty="0"/>
              <a:t>  // ...</a:t>
            </a:r>
            <a:br>
              <a:rPr dirty="0"/>
            </a:br>
            <a:r>
              <a:rPr dirty="0"/>
              <a:t>}</a:t>
            </a:r>
          </a:p>
        </p:txBody>
      </p:sp>
    </p:spTree>
    <p:extLst>
      <p:ext uri="{BB962C8B-B14F-4D97-AF65-F5344CB8AC3E}">
        <p14:creationId xmlns:p14="http://schemas.microsoft.com/office/powerpoint/2010/main" val="2398722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690066"/>
            <a:ext cx="852863" cy="201116"/>
          </a:xfrm>
          <a:prstGeom prst="roundRect">
            <a:avLst>
              <a:gd name="adj" fmla="val 7895"/>
            </a:avLst>
          </a:prstGeom>
          <a:noFill/>
          <a:ln w="6350">
            <a:solidFill>
              <a:srgbClr val="FDC4C4"/>
            </a:solidFill>
            <a:prstDash val="solid"/>
          </a:ln>
        </p:spPr>
        <p:txBody>
          <a:bodyPr/>
          <a:lstStyle/>
          <a:p>
            <a:endParaRPr lang="es-CO"/>
          </a:p>
        </p:txBody>
      </p:sp>
      <p:sp>
        <p:nvSpPr>
          <p:cNvPr id="3" name="Text 1"/>
          <p:cNvSpPr/>
          <p:nvPr/>
        </p:nvSpPr>
        <p:spPr>
          <a:xfrm>
            <a:off x="740848" y="729754"/>
            <a:ext cx="1303702" cy="121741"/>
          </a:xfrm>
          <a:prstGeom prst="rect">
            <a:avLst/>
          </a:prstGeom>
          <a:noFill/>
          <a:ln/>
        </p:spPr>
        <p:txBody>
          <a:bodyPr wrap="none" lIns="0" tIns="0" rIns="0" bIns="0" rtlCol="0" anchor="t"/>
          <a:lstStyle/>
          <a:p>
            <a:pPr marL="0" indent="0" algn="l">
              <a:lnSpc>
                <a:spcPct val="96000"/>
              </a:lnSpc>
              <a:buNone/>
            </a:pPr>
            <a:r>
              <a:rPr lang="en-US" sz="800" dirty="0">
                <a:solidFill>
                  <a:srgbClr val="FDC4C4"/>
                </a:solidFill>
                <a:latin typeface="Inter" pitchFamily="34" charset="0"/>
                <a:ea typeface="Inter" pitchFamily="34" charset="-122"/>
                <a:cs typeface="Inter" pitchFamily="34" charset="-120"/>
              </a:rPr>
              <a:t>NAVEGACIÓN</a:t>
            </a:r>
            <a:endParaRPr lang="en-US" sz="800" dirty="0"/>
          </a:p>
        </p:txBody>
      </p:sp>
      <p:sp>
        <p:nvSpPr>
          <p:cNvPr id="4" name="Text 2"/>
          <p:cNvSpPr/>
          <p:nvPr/>
        </p:nvSpPr>
        <p:spPr>
          <a:xfrm>
            <a:off x="661475" y="928191"/>
            <a:ext cx="10868745" cy="413445"/>
          </a:xfrm>
          <a:prstGeom prst="rect">
            <a:avLst/>
          </a:prstGeom>
          <a:noFill/>
          <a:ln/>
        </p:spPr>
        <p:txBody>
          <a:bodyPr wrap="none" lIns="0" tIns="0" rIns="0" bIns="0" rtlCol="0" anchor="t"/>
          <a:lstStyle/>
          <a:p>
            <a:pPr marL="0" indent="0" algn="l">
              <a:lnSpc>
                <a:spcPct val="104000"/>
              </a:lnSpc>
              <a:buNone/>
            </a:pPr>
            <a:r>
              <a:rPr lang="en-US" sz="2600" dirty="0">
                <a:solidFill>
                  <a:srgbClr val="EFD5FA"/>
                </a:solidFill>
                <a:latin typeface="Instrument Sans Medium" pitchFamily="34" charset="0"/>
                <a:ea typeface="Instrument Sans Medium" pitchFamily="34" charset="-122"/>
                <a:cs typeface="Instrument Sans Medium" pitchFamily="34" charset="-120"/>
              </a:rPr>
              <a:t>Pantallas y Mapa de Navegación</a:t>
            </a:r>
            <a:endParaRPr lang="en-US" sz="2600" dirty="0"/>
          </a:p>
        </p:txBody>
      </p:sp>
      <p:sp>
        <p:nvSpPr>
          <p:cNvPr id="5" name="Text 3"/>
          <p:cNvSpPr/>
          <p:nvPr/>
        </p:nvSpPr>
        <p:spPr>
          <a:xfrm>
            <a:off x="661475" y="1480542"/>
            <a:ext cx="11478330" cy="186333"/>
          </a:xfrm>
          <a:prstGeom prst="rect">
            <a:avLst/>
          </a:prstGeom>
          <a:noFill/>
          <a:ln/>
        </p:spPr>
        <p:txBody>
          <a:bodyPr wrap="none" lIns="0" tIns="0" rIns="0" bIns="0" rtlCol="0" anchor="t"/>
          <a:lstStyle/>
          <a:p>
            <a:pPr marL="0" indent="0" algn="l">
              <a:lnSpc>
                <a:spcPct val="113000"/>
              </a:lnSpc>
              <a:buNone/>
            </a:pPr>
            <a:r>
              <a:rPr lang="en-US" sz="1000" dirty="0">
                <a:solidFill>
                  <a:srgbClr val="C7CDD6"/>
                </a:solidFill>
                <a:latin typeface="Inter" pitchFamily="34" charset="0"/>
                <a:ea typeface="Inter" pitchFamily="34" charset="-122"/>
                <a:cs typeface="Inter" pitchFamily="34" charset="-120"/>
              </a:rPr>
              <a:t>El enrutamiento secuencial se gestiona mediante la clase </a:t>
            </a:r>
            <a:r>
              <a:rPr lang="en-US" sz="1000" dirty="0">
                <a:solidFill>
                  <a:srgbClr val="C7CDD6"/>
                </a:solidFill>
                <a:highlight>
                  <a:srgbClr val="313136"/>
                </a:highlight>
                <a:latin typeface="Consolas" pitchFamily="34" charset="0"/>
                <a:ea typeface="Consolas" pitchFamily="34" charset="-122"/>
                <a:cs typeface="Consolas" pitchFamily="34" charset="-120"/>
              </a:rPr>
              <a:t>Navigator</a:t>
            </a:r>
            <a:r>
              <a:rPr lang="en-US" sz="1000" dirty="0">
                <a:solidFill>
                  <a:srgbClr val="C7CDD6"/>
                </a:solidFill>
                <a:latin typeface="Inter" pitchFamily="34" charset="0"/>
                <a:ea typeface="Inter" pitchFamily="34" charset="-122"/>
                <a:cs typeface="Inter" pitchFamily="34" charset="-120"/>
              </a:rPr>
              <a:t> de Flutter, con inyección dinámica de variables entre pantallas.</a:t>
            </a:r>
            <a:endParaRPr lang="en-US" sz="1000" dirty="0"/>
          </a:p>
        </p:txBody>
      </p:sp>
      <p:sp>
        <p:nvSpPr>
          <p:cNvPr id="6" name="Shape 4"/>
          <p:cNvSpPr/>
          <p:nvPr/>
        </p:nvSpPr>
        <p:spPr>
          <a:xfrm>
            <a:off x="6086323" y="1771055"/>
            <a:ext cx="19050" cy="4396879"/>
          </a:xfrm>
          <a:prstGeom prst="roundRect">
            <a:avLst>
              <a:gd name="adj" fmla="val 49999"/>
            </a:avLst>
          </a:prstGeom>
          <a:solidFill>
            <a:srgbClr val="5C5C61"/>
          </a:solidFill>
          <a:ln/>
        </p:spPr>
        <p:txBody>
          <a:bodyPr/>
          <a:lstStyle/>
          <a:p>
            <a:endParaRPr lang="es-CO"/>
          </a:p>
        </p:txBody>
      </p:sp>
      <p:sp>
        <p:nvSpPr>
          <p:cNvPr id="7" name="Shape 5"/>
          <p:cNvSpPr/>
          <p:nvPr/>
        </p:nvSpPr>
        <p:spPr>
          <a:xfrm>
            <a:off x="5569208" y="1910358"/>
            <a:ext cx="396865" cy="19050"/>
          </a:xfrm>
          <a:prstGeom prst="roundRect">
            <a:avLst>
              <a:gd name="adj" fmla="val 49999"/>
            </a:avLst>
          </a:prstGeom>
          <a:solidFill>
            <a:srgbClr val="5C5C61"/>
          </a:solidFill>
          <a:ln/>
        </p:spPr>
        <p:txBody>
          <a:bodyPr/>
          <a:lstStyle/>
          <a:p>
            <a:endParaRPr lang="es-CO"/>
          </a:p>
        </p:txBody>
      </p:sp>
      <p:sp>
        <p:nvSpPr>
          <p:cNvPr id="8" name="Shape 6"/>
          <p:cNvSpPr/>
          <p:nvPr/>
        </p:nvSpPr>
        <p:spPr>
          <a:xfrm>
            <a:off x="5947023" y="1771055"/>
            <a:ext cx="297649" cy="297656"/>
          </a:xfrm>
          <a:prstGeom prst="roundRect">
            <a:avLst>
              <a:gd name="adj" fmla="val 6668"/>
            </a:avLst>
          </a:prstGeom>
          <a:solidFill>
            <a:srgbClr val="434348"/>
          </a:solidFill>
          <a:ln/>
        </p:spPr>
        <p:txBody>
          <a:bodyPr/>
          <a:lstStyle/>
          <a:p>
            <a:endParaRPr lang="es-CO"/>
          </a:p>
        </p:txBody>
      </p:sp>
      <p:sp>
        <p:nvSpPr>
          <p:cNvPr id="9" name="Text 7"/>
          <p:cNvSpPr/>
          <p:nvPr/>
        </p:nvSpPr>
        <p:spPr>
          <a:xfrm>
            <a:off x="5996631" y="1795859"/>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1</a:t>
            </a:r>
            <a:endParaRPr lang="en-US" sz="1550" dirty="0"/>
          </a:p>
        </p:txBody>
      </p:sp>
      <p:sp>
        <p:nvSpPr>
          <p:cNvPr id="10" name="Text 8"/>
          <p:cNvSpPr/>
          <p:nvPr/>
        </p:nvSpPr>
        <p:spPr>
          <a:xfrm>
            <a:off x="661475" y="1816497"/>
            <a:ext cx="4772898" cy="206673"/>
          </a:xfrm>
          <a:prstGeom prst="rect">
            <a:avLst/>
          </a:prstGeom>
          <a:noFill/>
          <a:ln/>
        </p:spPr>
        <p:txBody>
          <a:bodyPr wrap="none" lIns="0" tIns="0" rIns="0" bIns="0" rtlCol="0" anchor="t"/>
          <a:lstStyle/>
          <a:p>
            <a:pPr marL="0" indent="0" algn="r">
              <a:lnSpc>
                <a:spcPct val="1040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P-01 Login</a:t>
            </a:r>
            <a:endParaRPr lang="en-US" sz="1300" dirty="0"/>
          </a:p>
        </p:txBody>
      </p:sp>
      <p:sp>
        <p:nvSpPr>
          <p:cNvPr id="11" name="Text 9"/>
          <p:cNvSpPr/>
          <p:nvPr/>
        </p:nvSpPr>
        <p:spPr>
          <a:xfrm>
            <a:off x="661475" y="2078732"/>
            <a:ext cx="4772898" cy="186333"/>
          </a:xfrm>
          <a:prstGeom prst="rect">
            <a:avLst/>
          </a:prstGeom>
          <a:noFill/>
          <a:ln/>
        </p:spPr>
        <p:txBody>
          <a:bodyPr wrap="none" lIns="0" tIns="0" rIns="0" bIns="0" rtlCol="0" anchor="t"/>
          <a:lstStyle/>
          <a:p>
            <a:pPr marL="0" indent="0" algn="r">
              <a:lnSpc>
                <a:spcPct val="113000"/>
              </a:lnSpc>
              <a:buNone/>
            </a:pPr>
            <a:r>
              <a:rPr lang="en-US" sz="1000" dirty="0">
                <a:solidFill>
                  <a:srgbClr val="C7CDD6"/>
                </a:solidFill>
                <a:highlight>
                  <a:srgbClr val="313136"/>
                </a:highlight>
                <a:latin typeface="Consolas" pitchFamily="34" charset="0"/>
                <a:ea typeface="Consolas" pitchFamily="34" charset="-122"/>
                <a:cs typeface="Consolas" pitchFamily="34" charset="-120"/>
              </a:rPr>
              <a:t>widgetMenuInicio</a:t>
            </a:r>
            <a:r>
              <a:rPr lang="en-US" sz="1000" dirty="0">
                <a:solidFill>
                  <a:srgbClr val="C7CDD6"/>
                </a:solidFill>
                <a:latin typeface="Inter" pitchFamily="34" charset="0"/>
                <a:ea typeface="Inter" pitchFamily="34" charset="-122"/>
                <a:cs typeface="Inter" pitchFamily="34" charset="-120"/>
              </a:rPr>
              <a:t> — Panel de entrada</a:t>
            </a:r>
            <a:endParaRPr lang="en-US" sz="1000" dirty="0"/>
          </a:p>
        </p:txBody>
      </p:sp>
      <p:sp>
        <p:nvSpPr>
          <p:cNvPr id="12" name="Shape 10"/>
          <p:cNvSpPr/>
          <p:nvPr/>
        </p:nvSpPr>
        <p:spPr>
          <a:xfrm>
            <a:off x="6225622" y="2624832"/>
            <a:ext cx="396865" cy="19050"/>
          </a:xfrm>
          <a:prstGeom prst="roundRect">
            <a:avLst>
              <a:gd name="adj" fmla="val 49999"/>
            </a:avLst>
          </a:prstGeom>
          <a:solidFill>
            <a:srgbClr val="5C5C61"/>
          </a:solidFill>
          <a:ln/>
        </p:spPr>
        <p:txBody>
          <a:bodyPr/>
          <a:lstStyle/>
          <a:p>
            <a:endParaRPr lang="es-CO"/>
          </a:p>
        </p:txBody>
      </p:sp>
      <p:sp>
        <p:nvSpPr>
          <p:cNvPr id="13" name="Shape 11"/>
          <p:cNvSpPr/>
          <p:nvPr/>
        </p:nvSpPr>
        <p:spPr>
          <a:xfrm>
            <a:off x="5947023" y="2485529"/>
            <a:ext cx="297649" cy="297656"/>
          </a:xfrm>
          <a:prstGeom prst="roundRect">
            <a:avLst>
              <a:gd name="adj" fmla="val 6668"/>
            </a:avLst>
          </a:prstGeom>
          <a:solidFill>
            <a:srgbClr val="434348"/>
          </a:solidFill>
          <a:ln/>
        </p:spPr>
        <p:txBody>
          <a:bodyPr/>
          <a:lstStyle/>
          <a:p>
            <a:endParaRPr lang="es-CO"/>
          </a:p>
        </p:txBody>
      </p:sp>
      <p:sp>
        <p:nvSpPr>
          <p:cNvPr id="14" name="Text 12"/>
          <p:cNvSpPr/>
          <p:nvPr/>
        </p:nvSpPr>
        <p:spPr>
          <a:xfrm>
            <a:off x="5996631" y="2510334"/>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2</a:t>
            </a:r>
            <a:endParaRPr lang="en-US" sz="1550" dirty="0"/>
          </a:p>
        </p:txBody>
      </p:sp>
      <p:sp>
        <p:nvSpPr>
          <p:cNvPr id="15" name="Text 13"/>
          <p:cNvSpPr/>
          <p:nvPr/>
        </p:nvSpPr>
        <p:spPr>
          <a:xfrm>
            <a:off x="6757322" y="2530971"/>
            <a:ext cx="4772898" cy="206673"/>
          </a:xfrm>
          <a:prstGeom prst="rect">
            <a:avLst/>
          </a:prstGeom>
          <a:noFill/>
          <a:ln/>
        </p:spPr>
        <p:txBody>
          <a:bodyPr wrap="none" lIns="0" tIns="0" rIns="0" bIns="0" rtlCol="0" anchor="t"/>
          <a:lstStyle/>
          <a:p>
            <a:pPr marL="0" indent="0" algn="l">
              <a:lnSpc>
                <a:spcPct val="1040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P-02 Lista</a:t>
            </a:r>
            <a:endParaRPr lang="en-US" sz="1300" dirty="0"/>
          </a:p>
        </p:txBody>
      </p:sp>
      <p:sp>
        <p:nvSpPr>
          <p:cNvPr id="16" name="Text 14"/>
          <p:cNvSpPr/>
          <p:nvPr/>
        </p:nvSpPr>
        <p:spPr>
          <a:xfrm>
            <a:off x="6757322" y="2793206"/>
            <a:ext cx="4772898" cy="186333"/>
          </a:xfrm>
          <a:prstGeom prst="rect">
            <a:avLst/>
          </a:prstGeom>
          <a:noFill/>
          <a:ln/>
        </p:spPr>
        <p:txBody>
          <a:bodyPr wrap="none" lIns="0" tIns="0" rIns="0" bIns="0" rtlCol="0" anchor="t"/>
          <a:lstStyle/>
          <a:p>
            <a:pPr marL="0" indent="0" algn="l">
              <a:lnSpc>
                <a:spcPct val="113000"/>
              </a:lnSpc>
              <a:buNone/>
            </a:pPr>
            <a:r>
              <a:rPr lang="en-US" sz="1000" dirty="0">
                <a:solidFill>
                  <a:srgbClr val="C7CDD6"/>
                </a:solidFill>
                <a:highlight>
                  <a:srgbClr val="313136"/>
                </a:highlight>
                <a:latin typeface="Consolas" pitchFamily="34" charset="0"/>
                <a:ea typeface="Consolas" pitchFamily="34" charset="-122"/>
                <a:cs typeface="Consolas" pitchFamily="34" charset="-120"/>
              </a:rPr>
              <a:t>ListaInventarios</a:t>
            </a:r>
            <a:r>
              <a:rPr lang="en-US" sz="1000" dirty="0">
                <a:solidFill>
                  <a:srgbClr val="C7CDD6"/>
                </a:solidFill>
                <a:latin typeface="Inter" pitchFamily="34" charset="0"/>
                <a:ea typeface="Inter" pitchFamily="34" charset="-122"/>
                <a:cs typeface="Inter" pitchFamily="34" charset="-120"/>
              </a:rPr>
              <a:t> — Consulta o apertura (+)</a:t>
            </a:r>
            <a:endParaRPr lang="en-US" sz="1000" dirty="0"/>
          </a:p>
        </p:txBody>
      </p:sp>
      <p:sp>
        <p:nvSpPr>
          <p:cNvPr id="17" name="Shape 15"/>
          <p:cNvSpPr/>
          <p:nvPr/>
        </p:nvSpPr>
        <p:spPr>
          <a:xfrm>
            <a:off x="5569208" y="3269357"/>
            <a:ext cx="396865" cy="19050"/>
          </a:xfrm>
          <a:prstGeom prst="roundRect">
            <a:avLst>
              <a:gd name="adj" fmla="val 49999"/>
            </a:avLst>
          </a:prstGeom>
          <a:solidFill>
            <a:srgbClr val="5C5C61"/>
          </a:solidFill>
          <a:ln/>
        </p:spPr>
        <p:txBody>
          <a:bodyPr/>
          <a:lstStyle/>
          <a:p>
            <a:endParaRPr lang="es-CO"/>
          </a:p>
        </p:txBody>
      </p:sp>
      <p:sp>
        <p:nvSpPr>
          <p:cNvPr id="18" name="Shape 16"/>
          <p:cNvSpPr/>
          <p:nvPr/>
        </p:nvSpPr>
        <p:spPr>
          <a:xfrm>
            <a:off x="5947023" y="3130054"/>
            <a:ext cx="297649" cy="297656"/>
          </a:xfrm>
          <a:prstGeom prst="roundRect">
            <a:avLst>
              <a:gd name="adj" fmla="val 6668"/>
            </a:avLst>
          </a:prstGeom>
          <a:solidFill>
            <a:srgbClr val="434348"/>
          </a:solidFill>
          <a:ln/>
        </p:spPr>
        <p:txBody>
          <a:bodyPr/>
          <a:lstStyle/>
          <a:p>
            <a:endParaRPr lang="es-CO"/>
          </a:p>
        </p:txBody>
      </p:sp>
      <p:sp>
        <p:nvSpPr>
          <p:cNvPr id="19" name="Text 17"/>
          <p:cNvSpPr/>
          <p:nvPr/>
        </p:nvSpPr>
        <p:spPr>
          <a:xfrm>
            <a:off x="5996631" y="3154859"/>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3</a:t>
            </a:r>
            <a:endParaRPr lang="en-US" sz="1550" dirty="0"/>
          </a:p>
        </p:txBody>
      </p:sp>
      <p:sp>
        <p:nvSpPr>
          <p:cNvPr id="20" name="Text 18"/>
          <p:cNvSpPr/>
          <p:nvPr/>
        </p:nvSpPr>
        <p:spPr>
          <a:xfrm>
            <a:off x="661475" y="3175496"/>
            <a:ext cx="4772898" cy="206673"/>
          </a:xfrm>
          <a:prstGeom prst="rect">
            <a:avLst/>
          </a:prstGeom>
          <a:noFill/>
          <a:ln/>
        </p:spPr>
        <p:txBody>
          <a:bodyPr wrap="none" lIns="0" tIns="0" rIns="0" bIns="0" rtlCol="0" anchor="t"/>
          <a:lstStyle/>
          <a:p>
            <a:pPr marL="0" indent="0" algn="r">
              <a:lnSpc>
                <a:spcPct val="1040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P-03 Configuración</a:t>
            </a:r>
            <a:endParaRPr lang="en-US" sz="1300" dirty="0"/>
          </a:p>
        </p:txBody>
      </p:sp>
      <p:sp>
        <p:nvSpPr>
          <p:cNvPr id="21" name="Text 19"/>
          <p:cNvSpPr/>
          <p:nvPr/>
        </p:nvSpPr>
        <p:spPr>
          <a:xfrm>
            <a:off x="661475" y="3437731"/>
            <a:ext cx="4772898" cy="186333"/>
          </a:xfrm>
          <a:prstGeom prst="rect">
            <a:avLst/>
          </a:prstGeom>
          <a:noFill/>
          <a:ln/>
        </p:spPr>
        <p:txBody>
          <a:bodyPr wrap="none" lIns="0" tIns="0" rIns="0" bIns="0" rtlCol="0" anchor="t"/>
          <a:lstStyle/>
          <a:p>
            <a:pPr marL="0" indent="0" algn="r">
              <a:lnSpc>
                <a:spcPct val="113000"/>
              </a:lnSpc>
              <a:buNone/>
            </a:pPr>
            <a:r>
              <a:rPr lang="en-US" sz="1000" dirty="0">
                <a:solidFill>
                  <a:srgbClr val="C7CDD6"/>
                </a:solidFill>
                <a:highlight>
                  <a:srgbClr val="313136"/>
                </a:highlight>
                <a:latin typeface="Consolas" pitchFamily="34" charset="0"/>
                <a:ea typeface="Consolas" pitchFamily="34" charset="-122"/>
                <a:cs typeface="Consolas" pitchFamily="34" charset="-120"/>
              </a:rPr>
              <a:t>PantallaNuevoInmueble</a:t>
            </a:r>
            <a:r>
              <a:rPr lang="en-US" sz="1000" dirty="0">
                <a:solidFill>
                  <a:srgbClr val="C7CDD6"/>
                </a:solidFill>
                <a:latin typeface="Inter" pitchFamily="34" charset="0"/>
                <a:ea typeface="Inter" pitchFamily="34" charset="-122"/>
                <a:cs typeface="Inter" pitchFamily="34" charset="-120"/>
              </a:rPr>
              <a:t> — Fecha y tipo</a:t>
            </a:r>
            <a:endParaRPr lang="en-US" sz="1000" dirty="0"/>
          </a:p>
        </p:txBody>
      </p:sp>
      <p:sp>
        <p:nvSpPr>
          <p:cNvPr id="22" name="Shape 20"/>
          <p:cNvSpPr/>
          <p:nvPr/>
        </p:nvSpPr>
        <p:spPr>
          <a:xfrm>
            <a:off x="6225622" y="3913981"/>
            <a:ext cx="396865" cy="19050"/>
          </a:xfrm>
          <a:prstGeom prst="roundRect">
            <a:avLst>
              <a:gd name="adj" fmla="val 49999"/>
            </a:avLst>
          </a:prstGeom>
          <a:solidFill>
            <a:srgbClr val="5C5C61"/>
          </a:solidFill>
          <a:ln/>
        </p:spPr>
        <p:txBody>
          <a:bodyPr/>
          <a:lstStyle/>
          <a:p>
            <a:endParaRPr lang="es-CO"/>
          </a:p>
        </p:txBody>
      </p:sp>
      <p:sp>
        <p:nvSpPr>
          <p:cNvPr id="23" name="Shape 21"/>
          <p:cNvSpPr/>
          <p:nvPr/>
        </p:nvSpPr>
        <p:spPr>
          <a:xfrm>
            <a:off x="5947023" y="3774678"/>
            <a:ext cx="297649" cy="297656"/>
          </a:xfrm>
          <a:prstGeom prst="roundRect">
            <a:avLst>
              <a:gd name="adj" fmla="val 6668"/>
            </a:avLst>
          </a:prstGeom>
          <a:solidFill>
            <a:srgbClr val="434348"/>
          </a:solidFill>
          <a:ln/>
        </p:spPr>
        <p:txBody>
          <a:bodyPr/>
          <a:lstStyle/>
          <a:p>
            <a:endParaRPr lang="es-CO"/>
          </a:p>
        </p:txBody>
      </p:sp>
      <p:sp>
        <p:nvSpPr>
          <p:cNvPr id="24" name="Text 22"/>
          <p:cNvSpPr/>
          <p:nvPr/>
        </p:nvSpPr>
        <p:spPr>
          <a:xfrm>
            <a:off x="5996631" y="3799483"/>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4</a:t>
            </a:r>
            <a:endParaRPr lang="en-US" sz="1550" dirty="0"/>
          </a:p>
        </p:txBody>
      </p:sp>
      <p:sp>
        <p:nvSpPr>
          <p:cNvPr id="25" name="Text 23"/>
          <p:cNvSpPr/>
          <p:nvPr/>
        </p:nvSpPr>
        <p:spPr>
          <a:xfrm>
            <a:off x="6757322" y="3820120"/>
            <a:ext cx="4772898" cy="206673"/>
          </a:xfrm>
          <a:prstGeom prst="rect">
            <a:avLst/>
          </a:prstGeom>
          <a:noFill/>
          <a:ln/>
        </p:spPr>
        <p:txBody>
          <a:bodyPr wrap="none" lIns="0" tIns="0" rIns="0" bIns="0" rtlCol="0" anchor="t"/>
          <a:lstStyle/>
          <a:p>
            <a:pPr marL="0" indent="0" algn="l">
              <a:lnSpc>
                <a:spcPct val="1040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P-04 Captura</a:t>
            </a:r>
            <a:endParaRPr lang="en-US" sz="1300" dirty="0"/>
          </a:p>
        </p:txBody>
      </p:sp>
      <p:sp>
        <p:nvSpPr>
          <p:cNvPr id="26" name="Text 24"/>
          <p:cNvSpPr/>
          <p:nvPr/>
        </p:nvSpPr>
        <p:spPr>
          <a:xfrm>
            <a:off x="6757322" y="4082355"/>
            <a:ext cx="4772898" cy="186333"/>
          </a:xfrm>
          <a:prstGeom prst="rect">
            <a:avLst/>
          </a:prstGeom>
          <a:noFill/>
          <a:ln/>
        </p:spPr>
        <p:txBody>
          <a:bodyPr wrap="none" lIns="0" tIns="0" rIns="0" bIns="0" rtlCol="0" anchor="t"/>
          <a:lstStyle/>
          <a:p>
            <a:pPr marL="0" indent="0" algn="l">
              <a:lnSpc>
                <a:spcPct val="113000"/>
              </a:lnSpc>
              <a:buNone/>
            </a:pPr>
            <a:r>
              <a:rPr lang="en-US" sz="1000" dirty="0">
                <a:solidFill>
                  <a:srgbClr val="C7CDD6"/>
                </a:solidFill>
                <a:highlight>
                  <a:srgbClr val="313136"/>
                </a:highlight>
                <a:latin typeface="Consolas" pitchFamily="34" charset="0"/>
                <a:ea typeface="Consolas" pitchFamily="34" charset="-122"/>
                <a:cs typeface="Consolas" pitchFamily="34" charset="-120"/>
              </a:rPr>
              <a:t>CrearInventario</a:t>
            </a:r>
            <a:r>
              <a:rPr lang="en-US" sz="1000" dirty="0">
                <a:solidFill>
                  <a:srgbClr val="C7CDD6"/>
                </a:solidFill>
                <a:latin typeface="Inter" pitchFamily="34" charset="0"/>
                <a:ea typeface="Inter" pitchFamily="34" charset="-122"/>
                <a:cs typeface="Inter" pitchFamily="34" charset="-120"/>
              </a:rPr>
              <a:t> — Formulario de zonas</a:t>
            </a:r>
            <a:endParaRPr lang="en-US" sz="1000" dirty="0"/>
          </a:p>
        </p:txBody>
      </p:sp>
      <p:sp>
        <p:nvSpPr>
          <p:cNvPr id="27" name="Shape 25"/>
          <p:cNvSpPr/>
          <p:nvPr/>
        </p:nvSpPr>
        <p:spPr>
          <a:xfrm>
            <a:off x="5569208" y="4558605"/>
            <a:ext cx="396865" cy="19050"/>
          </a:xfrm>
          <a:prstGeom prst="roundRect">
            <a:avLst>
              <a:gd name="adj" fmla="val 49999"/>
            </a:avLst>
          </a:prstGeom>
          <a:solidFill>
            <a:srgbClr val="5C5C61"/>
          </a:solidFill>
          <a:ln/>
        </p:spPr>
        <p:txBody>
          <a:bodyPr/>
          <a:lstStyle/>
          <a:p>
            <a:endParaRPr lang="es-CO"/>
          </a:p>
        </p:txBody>
      </p:sp>
      <p:sp>
        <p:nvSpPr>
          <p:cNvPr id="28" name="Shape 26"/>
          <p:cNvSpPr/>
          <p:nvPr/>
        </p:nvSpPr>
        <p:spPr>
          <a:xfrm>
            <a:off x="5947023" y="4419302"/>
            <a:ext cx="297649" cy="297656"/>
          </a:xfrm>
          <a:prstGeom prst="roundRect">
            <a:avLst>
              <a:gd name="adj" fmla="val 6668"/>
            </a:avLst>
          </a:prstGeom>
          <a:solidFill>
            <a:srgbClr val="434348"/>
          </a:solidFill>
          <a:ln/>
        </p:spPr>
        <p:txBody>
          <a:bodyPr/>
          <a:lstStyle/>
          <a:p>
            <a:endParaRPr lang="es-CO"/>
          </a:p>
        </p:txBody>
      </p:sp>
      <p:sp>
        <p:nvSpPr>
          <p:cNvPr id="29" name="Text 27"/>
          <p:cNvSpPr/>
          <p:nvPr/>
        </p:nvSpPr>
        <p:spPr>
          <a:xfrm>
            <a:off x="5996631" y="4444107"/>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5</a:t>
            </a:r>
            <a:endParaRPr lang="en-US" sz="1550" dirty="0"/>
          </a:p>
        </p:txBody>
      </p:sp>
      <p:sp>
        <p:nvSpPr>
          <p:cNvPr id="30" name="Text 28"/>
          <p:cNvSpPr/>
          <p:nvPr/>
        </p:nvSpPr>
        <p:spPr>
          <a:xfrm>
            <a:off x="661475" y="4464745"/>
            <a:ext cx="4772898" cy="206673"/>
          </a:xfrm>
          <a:prstGeom prst="rect">
            <a:avLst/>
          </a:prstGeom>
          <a:noFill/>
          <a:ln/>
        </p:spPr>
        <p:txBody>
          <a:bodyPr wrap="none" lIns="0" tIns="0" rIns="0" bIns="0" rtlCol="0" anchor="t"/>
          <a:lstStyle/>
          <a:p>
            <a:pPr marL="0" indent="0" algn="r">
              <a:lnSpc>
                <a:spcPct val="1040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P-05 Detalle</a:t>
            </a:r>
            <a:endParaRPr lang="en-US" sz="1300" dirty="0"/>
          </a:p>
        </p:txBody>
      </p:sp>
      <p:sp>
        <p:nvSpPr>
          <p:cNvPr id="31" name="Text 29"/>
          <p:cNvSpPr/>
          <p:nvPr/>
        </p:nvSpPr>
        <p:spPr>
          <a:xfrm>
            <a:off x="661475" y="4726980"/>
            <a:ext cx="4772898" cy="186333"/>
          </a:xfrm>
          <a:prstGeom prst="rect">
            <a:avLst/>
          </a:prstGeom>
          <a:noFill/>
          <a:ln/>
        </p:spPr>
        <p:txBody>
          <a:bodyPr wrap="none" lIns="0" tIns="0" rIns="0" bIns="0" rtlCol="0" anchor="t"/>
          <a:lstStyle/>
          <a:p>
            <a:pPr marL="0" indent="0" algn="r">
              <a:lnSpc>
                <a:spcPct val="113000"/>
              </a:lnSpc>
              <a:buNone/>
            </a:pPr>
            <a:r>
              <a:rPr lang="en-US" sz="1000" dirty="0">
                <a:solidFill>
                  <a:srgbClr val="C7CDD6"/>
                </a:solidFill>
                <a:highlight>
                  <a:srgbClr val="313136"/>
                </a:highlight>
                <a:latin typeface="Consolas" pitchFamily="34" charset="0"/>
                <a:ea typeface="Consolas" pitchFamily="34" charset="-122"/>
                <a:cs typeface="Consolas" pitchFamily="34" charset="-120"/>
              </a:rPr>
              <a:t>DetalleInmueble</a:t>
            </a:r>
            <a:r>
              <a:rPr lang="en-US" sz="1000" dirty="0">
                <a:solidFill>
                  <a:srgbClr val="C7CDD6"/>
                </a:solidFill>
                <a:latin typeface="Inter" pitchFamily="34" charset="0"/>
                <a:ea typeface="Inter" pitchFamily="34" charset="-122"/>
                <a:cs typeface="Inter" pitchFamily="34" charset="-120"/>
              </a:rPr>
              <a:t> — Inspección de ID</a:t>
            </a:r>
            <a:endParaRPr lang="en-US" sz="1000" dirty="0"/>
          </a:p>
        </p:txBody>
      </p:sp>
      <p:sp>
        <p:nvSpPr>
          <p:cNvPr id="32" name="Shape 30"/>
          <p:cNvSpPr/>
          <p:nvPr/>
        </p:nvSpPr>
        <p:spPr>
          <a:xfrm>
            <a:off x="6225622" y="5203230"/>
            <a:ext cx="396865" cy="19050"/>
          </a:xfrm>
          <a:prstGeom prst="roundRect">
            <a:avLst>
              <a:gd name="adj" fmla="val 49999"/>
            </a:avLst>
          </a:prstGeom>
          <a:solidFill>
            <a:srgbClr val="5C5C61"/>
          </a:solidFill>
          <a:ln/>
        </p:spPr>
        <p:txBody>
          <a:bodyPr/>
          <a:lstStyle/>
          <a:p>
            <a:endParaRPr lang="es-CO"/>
          </a:p>
        </p:txBody>
      </p:sp>
      <p:sp>
        <p:nvSpPr>
          <p:cNvPr id="33" name="Shape 31"/>
          <p:cNvSpPr/>
          <p:nvPr/>
        </p:nvSpPr>
        <p:spPr>
          <a:xfrm>
            <a:off x="5947023" y="5063927"/>
            <a:ext cx="297649" cy="297656"/>
          </a:xfrm>
          <a:prstGeom prst="roundRect">
            <a:avLst>
              <a:gd name="adj" fmla="val 6668"/>
            </a:avLst>
          </a:prstGeom>
          <a:solidFill>
            <a:srgbClr val="434348"/>
          </a:solidFill>
          <a:ln/>
        </p:spPr>
        <p:txBody>
          <a:bodyPr/>
          <a:lstStyle/>
          <a:p>
            <a:endParaRPr lang="es-CO"/>
          </a:p>
        </p:txBody>
      </p:sp>
      <p:sp>
        <p:nvSpPr>
          <p:cNvPr id="34" name="Text 32"/>
          <p:cNvSpPr/>
          <p:nvPr/>
        </p:nvSpPr>
        <p:spPr>
          <a:xfrm>
            <a:off x="5996631" y="5088731"/>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6</a:t>
            </a:r>
            <a:endParaRPr lang="en-US" sz="1550" dirty="0"/>
          </a:p>
        </p:txBody>
      </p:sp>
      <p:sp>
        <p:nvSpPr>
          <p:cNvPr id="35" name="Text 33"/>
          <p:cNvSpPr/>
          <p:nvPr/>
        </p:nvSpPr>
        <p:spPr>
          <a:xfrm>
            <a:off x="6757322" y="5109369"/>
            <a:ext cx="4772898" cy="206673"/>
          </a:xfrm>
          <a:prstGeom prst="rect">
            <a:avLst/>
          </a:prstGeom>
          <a:noFill/>
          <a:ln/>
        </p:spPr>
        <p:txBody>
          <a:bodyPr wrap="none" lIns="0" tIns="0" rIns="0" bIns="0" rtlCol="0" anchor="t"/>
          <a:lstStyle/>
          <a:p>
            <a:pPr marL="0" indent="0" algn="l">
              <a:lnSpc>
                <a:spcPct val="1040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P-06 Enviar</a:t>
            </a:r>
            <a:endParaRPr lang="en-US" sz="1300" dirty="0"/>
          </a:p>
        </p:txBody>
      </p:sp>
      <p:sp>
        <p:nvSpPr>
          <p:cNvPr id="36" name="Text 34"/>
          <p:cNvSpPr/>
          <p:nvPr/>
        </p:nvSpPr>
        <p:spPr>
          <a:xfrm>
            <a:off x="6757322" y="5371604"/>
            <a:ext cx="4772898" cy="186333"/>
          </a:xfrm>
          <a:prstGeom prst="rect">
            <a:avLst/>
          </a:prstGeom>
          <a:noFill/>
          <a:ln/>
        </p:spPr>
        <p:txBody>
          <a:bodyPr wrap="none" lIns="0" tIns="0" rIns="0" bIns="0" rtlCol="0" anchor="t"/>
          <a:lstStyle/>
          <a:p>
            <a:pPr marL="0" indent="0" algn="l">
              <a:lnSpc>
                <a:spcPct val="113000"/>
              </a:lnSpc>
              <a:buNone/>
            </a:pPr>
            <a:r>
              <a:rPr lang="en-US" sz="1000" dirty="0">
                <a:solidFill>
                  <a:srgbClr val="C7CDD6"/>
                </a:solidFill>
                <a:highlight>
                  <a:srgbClr val="313136"/>
                </a:highlight>
                <a:latin typeface="Consolas" pitchFamily="34" charset="0"/>
                <a:ea typeface="Consolas" pitchFamily="34" charset="-122"/>
                <a:cs typeface="Consolas" pitchFamily="34" charset="-120"/>
              </a:rPr>
              <a:t>EnviarInventario</a:t>
            </a:r>
            <a:r>
              <a:rPr lang="en-US" sz="1000" dirty="0">
                <a:solidFill>
                  <a:srgbClr val="C7CDD6"/>
                </a:solidFill>
                <a:latin typeface="Inter" pitchFamily="34" charset="0"/>
                <a:ea typeface="Inter" pitchFamily="34" charset="-122"/>
                <a:cs typeface="Inter" pitchFamily="34" charset="-120"/>
              </a:rPr>
              <a:t> — Stakeholder y cierre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4DA3B-7DF4-4671-A3D4-00A6151C91F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1A884EF-9AEE-51C5-B4A9-5AE15CACEDC0}"/>
              </a:ext>
            </a:extLst>
          </p:cNvPr>
          <p:cNvSpPr/>
          <p:nvPr/>
        </p:nvSpPr>
        <p:spPr>
          <a:xfrm>
            <a:off x="661475" y="690066"/>
            <a:ext cx="852863" cy="201116"/>
          </a:xfrm>
          <a:prstGeom prst="roundRect">
            <a:avLst>
              <a:gd name="adj" fmla="val 7895"/>
            </a:avLst>
          </a:prstGeom>
          <a:noFill/>
          <a:ln w="6350">
            <a:solidFill>
              <a:srgbClr val="FDC4C4"/>
            </a:solidFill>
            <a:prstDash val="solid"/>
          </a:ln>
        </p:spPr>
        <p:txBody>
          <a:bodyPr/>
          <a:lstStyle/>
          <a:p>
            <a:endParaRPr lang="es-CO"/>
          </a:p>
        </p:txBody>
      </p:sp>
      <p:sp>
        <p:nvSpPr>
          <p:cNvPr id="3" name="Text 1">
            <a:extLst>
              <a:ext uri="{FF2B5EF4-FFF2-40B4-BE49-F238E27FC236}">
                <a16:creationId xmlns:a16="http://schemas.microsoft.com/office/drawing/2014/main" id="{23DFA071-0440-CC9B-D6F6-65059BCFD116}"/>
              </a:ext>
            </a:extLst>
          </p:cNvPr>
          <p:cNvSpPr/>
          <p:nvPr/>
        </p:nvSpPr>
        <p:spPr>
          <a:xfrm>
            <a:off x="740848" y="729754"/>
            <a:ext cx="1303702" cy="121741"/>
          </a:xfrm>
          <a:prstGeom prst="rect">
            <a:avLst/>
          </a:prstGeom>
          <a:noFill/>
          <a:ln/>
        </p:spPr>
        <p:txBody>
          <a:bodyPr wrap="none" lIns="0" tIns="0" rIns="0" bIns="0" rtlCol="0" anchor="t"/>
          <a:lstStyle/>
          <a:p>
            <a:pPr marL="0" indent="0" algn="l">
              <a:lnSpc>
                <a:spcPct val="96000"/>
              </a:lnSpc>
              <a:buNone/>
            </a:pPr>
            <a:r>
              <a:rPr lang="en-US" sz="800" dirty="0">
                <a:solidFill>
                  <a:srgbClr val="FDC4C4"/>
                </a:solidFill>
                <a:latin typeface="Inter" pitchFamily="34" charset="0"/>
                <a:ea typeface="Inter" pitchFamily="34" charset="-122"/>
                <a:cs typeface="Inter" pitchFamily="34" charset="-120"/>
              </a:rPr>
              <a:t>NAVEGACIÓN</a:t>
            </a:r>
            <a:endParaRPr lang="en-US" sz="800" dirty="0"/>
          </a:p>
        </p:txBody>
      </p:sp>
      <p:sp>
        <p:nvSpPr>
          <p:cNvPr id="4" name="Text 2">
            <a:extLst>
              <a:ext uri="{FF2B5EF4-FFF2-40B4-BE49-F238E27FC236}">
                <a16:creationId xmlns:a16="http://schemas.microsoft.com/office/drawing/2014/main" id="{A84D8B82-D403-57D8-15B4-E494BCF8E70D}"/>
              </a:ext>
            </a:extLst>
          </p:cNvPr>
          <p:cNvSpPr/>
          <p:nvPr/>
        </p:nvSpPr>
        <p:spPr>
          <a:xfrm>
            <a:off x="661475" y="928191"/>
            <a:ext cx="10868745" cy="413445"/>
          </a:xfrm>
          <a:prstGeom prst="rect">
            <a:avLst/>
          </a:prstGeom>
          <a:noFill/>
          <a:ln/>
        </p:spPr>
        <p:txBody>
          <a:bodyPr wrap="none" lIns="0" tIns="0" rIns="0" bIns="0" rtlCol="0" anchor="t"/>
          <a:lstStyle/>
          <a:p>
            <a:pPr marL="0" indent="0" algn="l">
              <a:lnSpc>
                <a:spcPct val="104000"/>
              </a:lnSpc>
              <a:buNone/>
            </a:pPr>
            <a:r>
              <a:rPr lang="en-US" sz="2600" dirty="0">
                <a:solidFill>
                  <a:srgbClr val="EFD5FA"/>
                </a:solidFill>
                <a:latin typeface="Instrument Sans Medium" pitchFamily="34" charset="0"/>
                <a:ea typeface="Instrument Sans Medium" pitchFamily="34" charset="-122"/>
                <a:cs typeface="Instrument Sans Medium" pitchFamily="34" charset="-120"/>
              </a:rPr>
              <a:t>Pantallas y Mapa de Navegación</a:t>
            </a:r>
            <a:endParaRPr lang="en-US" sz="2600" dirty="0"/>
          </a:p>
        </p:txBody>
      </p:sp>
      <p:sp>
        <p:nvSpPr>
          <p:cNvPr id="40" name="TextBox 5">
            <a:extLst>
              <a:ext uri="{FF2B5EF4-FFF2-40B4-BE49-F238E27FC236}">
                <a16:creationId xmlns:a16="http://schemas.microsoft.com/office/drawing/2014/main" id="{C0F0683F-AD69-A53E-1F34-163D858CB19A}"/>
              </a:ext>
            </a:extLst>
          </p:cNvPr>
          <p:cNvSpPr txBox="1"/>
          <p:nvPr/>
        </p:nvSpPr>
        <p:spPr>
          <a:xfrm>
            <a:off x="1087906" y="1648754"/>
            <a:ext cx="5120640" cy="4389120"/>
          </a:xfrm>
          <a:prstGeom prst="rect">
            <a:avLst/>
          </a:prstGeom>
          <a:noFill/>
        </p:spPr>
        <p:txBody>
          <a:bodyPr wrap="square">
            <a:spAutoFit/>
          </a:bodyPr>
          <a:lstStyle/>
          <a:p>
            <a:pPr>
              <a:defRPr sz="1100">
                <a:solidFill>
                  <a:srgbClr val="286E28"/>
                </a:solidFill>
                <a:latin typeface="Courier New"/>
              </a:defRPr>
            </a:pPr>
            <a:r>
              <a:rPr dirty="0"/>
              <a:t>// </a:t>
            </a:r>
            <a:r>
              <a:rPr dirty="0" err="1"/>
              <a:t>Enrutamiento</a:t>
            </a:r>
            <a:r>
              <a:rPr dirty="0"/>
              <a:t> </a:t>
            </a:r>
            <a:r>
              <a:rPr dirty="0" err="1"/>
              <a:t>explícito</a:t>
            </a:r>
            <a:r>
              <a:rPr dirty="0"/>
              <a:t> </a:t>
            </a:r>
            <a:r>
              <a:rPr dirty="0" err="1"/>
              <a:t>mediante</a:t>
            </a:r>
            <a:r>
              <a:rPr dirty="0"/>
              <a:t> </a:t>
            </a:r>
            <a:r>
              <a:rPr dirty="0" err="1"/>
              <a:t>MaterialPageRoute</a:t>
            </a:r>
            <a:br>
              <a:rPr dirty="0"/>
            </a:br>
            <a:r>
              <a:rPr dirty="0" err="1"/>
              <a:t>Navigator.push</a:t>
            </a:r>
            <a:r>
              <a:rPr dirty="0"/>
              <a:t>(</a:t>
            </a:r>
            <a:br>
              <a:rPr dirty="0"/>
            </a:br>
            <a:r>
              <a:rPr dirty="0"/>
              <a:t>  context,</a:t>
            </a:r>
            <a:br>
              <a:rPr dirty="0"/>
            </a:br>
            <a:r>
              <a:rPr dirty="0"/>
              <a:t>  </a:t>
            </a:r>
            <a:r>
              <a:rPr dirty="0" err="1"/>
              <a:t>MaterialPageRoute</a:t>
            </a:r>
            <a:r>
              <a:rPr dirty="0"/>
              <a:t>(</a:t>
            </a:r>
            <a:br>
              <a:rPr dirty="0"/>
            </a:br>
            <a:r>
              <a:rPr dirty="0"/>
              <a:t>    builder: (context) =&gt; </a:t>
            </a:r>
            <a:r>
              <a:rPr dirty="0" err="1"/>
              <a:t>CrearInventario</a:t>
            </a:r>
            <a:r>
              <a:rPr dirty="0"/>
              <a:t>(</a:t>
            </a:r>
            <a:br>
              <a:rPr dirty="0"/>
            </a:br>
            <a:r>
              <a:rPr dirty="0"/>
              <a:t>      </a:t>
            </a:r>
            <a:r>
              <a:rPr dirty="0" err="1"/>
              <a:t>codigoInmueble</a:t>
            </a:r>
            <a:r>
              <a:rPr dirty="0"/>
              <a:t>: _</a:t>
            </a:r>
            <a:r>
              <a:rPr dirty="0" err="1"/>
              <a:t>controladorInmueble.text</a:t>
            </a:r>
            <a:r>
              <a:rPr dirty="0"/>
              <a:t>,</a:t>
            </a:r>
            <a:br>
              <a:rPr dirty="0"/>
            </a:br>
            <a:r>
              <a:rPr dirty="0"/>
              <a:t>    ),</a:t>
            </a:r>
            <a:br>
              <a:rPr dirty="0"/>
            </a:br>
            <a:r>
              <a:rPr dirty="0"/>
              <a:t>  ),</a:t>
            </a:r>
            <a:br>
              <a:rPr dirty="0"/>
            </a:br>
            <a:r>
              <a:rPr dirty="0"/>
              <a:t>);</a:t>
            </a:r>
          </a:p>
        </p:txBody>
      </p:sp>
    </p:spTree>
    <p:extLst>
      <p:ext uri="{BB962C8B-B14F-4D97-AF65-F5344CB8AC3E}">
        <p14:creationId xmlns:p14="http://schemas.microsoft.com/office/powerpoint/2010/main" val="4213684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Shape 0"/>
          <p:cNvSpPr/>
          <p:nvPr/>
        </p:nvSpPr>
        <p:spPr>
          <a:xfrm>
            <a:off x="661475" y="1835646"/>
            <a:ext cx="1625956" cy="251420"/>
          </a:xfrm>
          <a:prstGeom prst="roundRect">
            <a:avLst>
              <a:gd name="adj" fmla="val 7894"/>
            </a:avLst>
          </a:prstGeom>
          <a:solidFill>
            <a:srgbClr val="4A030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p:cNvSpPr/>
          <p:nvPr/>
        </p:nvSpPr>
        <p:spPr>
          <a:xfrm>
            <a:off x="760691" y="1885255"/>
            <a:ext cx="2037108" cy="152202"/>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FLUTTER · DART · V1.0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61475" y="2153146"/>
            <a:ext cx="6296860" cy="1033463"/>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Mapa de Navegación Real en Flutter</a:t>
            </a:r>
            <a:endParaRPr kumimoji="0" lang="en-US" sz="3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661475" y="3434655"/>
            <a:ext cx="6296860" cy="158769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La aplicación gestiona la navegación entre pantallas mediante el componente </a:t>
            </a:r>
            <a:r>
              <a:rPr kumimoji="0" lang="en-US" sz="13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Navigator.push</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y transiciones basadas en </a:t>
            </a:r>
            <a:r>
              <a:rPr kumimoji="0" lang="en-US" sz="13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MaterialPageRoute</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siguiendo una arquitectura de enrutamiento secuencial que guía al usuario desde el acceso inicial hasta el despacho final del inventario. Este enfoque garantiza trazabilidad completa del flujo operativo, con cada pantalla cumpliendo un rol específico dentro del ciclo de vida del registro digital.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05916"/>
            <a:ext cx="1480902" cy="188516"/>
          </a:xfrm>
          <a:prstGeom prst="roundRect">
            <a:avLst>
              <a:gd name="adj" fmla="val 7896"/>
            </a:avLst>
          </a:prstGeom>
          <a:solidFill>
            <a:srgbClr val="4A030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35887" y="543123"/>
            <a:ext cx="1941662" cy="114102"/>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GALERÍA VISUAL — PARTE 1</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731639"/>
            <a:ext cx="10868745" cy="387648"/>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Flujo Inicial de Operación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1258788"/>
            <a:ext cx="10868745" cy="52089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7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Las interfaces críticas del flujo inicial han sido diseñadas con un enfoque en la usabilidad en campo. El contraste directo entre el diseño conceptual y la maquetación en código valida la fidelidad de la implementación respecto a los requerimientos UX/UI definidos. A continuación se presentan los mockups correspondientes a las dos primeras pantallas del flujo operativo.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72180" y="1884263"/>
            <a:ext cx="5461657" cy="1982589"/>
          </a:xfrm>
          <a:prstGeom prst="roundRect">
            <a:avLst>
              <a:gd name="adj" fmla="val 938"/>
            </a:avLst>
          </a:prstGeom>
          <a:solidFill>
            <a:srgbClr val="FDC4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96201" y="1977231"/>
            <a:ext cx="5213616" cy="19377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strument Sans Medium" pitchFamily="34" charset="0"/>
                <a:ea typeface="Instrument Sans Medium" pitchFamily="34" charset="-122"/>
                <a:cs typeface="Instrument Sans Medium" pitchFamily="34" charset="-120"/>
              </a:rPr>
              <a:t>P-01 Login — widgetMenuInicio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96201" y="2263973"/>
            <a:ext cx="5213616" cy="694531"/>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7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Acceso y Autenticación:</a:t>
            </a: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Interfaz limpia con campos optimizados para credenciales de inventaristas y soporte técnico integrado. Diseñada para minimizar la fricción en el inicio de sesión, con validación local de campos y retroalimentación visual inmediata para el usuario.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96201" y="3042146"/>
            <a:ext cx="5213616" cy="792163"/>
          </a:xfrm>
          <a:prstGeom prst="rect">
            <a:avLst/>
          </a:prstGeom>
          <a:noFill/>
          <a:ln/>
        </p:spPr>
        <p:txBody>
          <a:bodyPr wrap="square" lIns="0" tIns="0" rIns="0" bIns="0" rtlCol="0" anchor="t">
            <a:normAutofit/>
          </a:bodyPr>
          <a:lstStyle/>
          <a:p>
            <a:pPr marL="193040" marR="0" lvl="0" indent="-193040" algn="l" defTabSz="914400" rtl="0" eaLnBrk="1" fontAlgn="auto" latinLnBrk="0" hangingPunct="1">
              <a:lnSpc>
                <a:spcPct val="11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Campos de usuario y contraseña con validación en tiempo real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Botón de acceso directo con transición controlada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Soporte técnico integrado en la interfaz de autenticación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Diseño adaptado para uso en dispositivos móviles en campo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253502" y="1977231"/>
            <a:ext cx="5283068" cy="19377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P-02 Lista de Inmuebles — ListaInventarios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253502" y="2263973"/>
            <a:ext cx="5283068" cy="694531"/>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7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Panel de Control:</a:t>
            </a: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Lista jerárquica que despliega tarjetas de propiedades con previsualización de imágenes fijas en memoria. Actúa como el nodo central desde donde el inventarista puede consultar registros existentes o iniciar un nuevo proceso de inspección.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253502" y="3042146"/>
            <a:ext cx="5283068" cy="792163"/>
          </a:xfrm>
          <a:prstGeom prst="rect">
            <a:avLst/>
          </a:prstGeom>
          <a:noFill/>
          <a:ln/>
        </p:spPr>
        <p:txBody>
          <a:bodyPr wrap="square" lIns="0" tIns="0" rIns="0" bIns="0" rtlCol="0" anchor="t">
            <a:normAutofit/>
          </a:bodyPr>
          <a:lstStyle/>
          <a:p>
            <a:pPr marL="193040" marR="0" lvl="0" indent="-193040" algn="l" defTabSz="914400" rtl="0" eaLnBrk="1" fontAlgn="auto" latinLnBrk="0" hangingPunct="1">
              <a:lnSpc>
                <a:spcPct val="11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Tarjetas de propiedades con información jerarquizada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Previsualización de imágenes almacenadas en memoria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Acceso directo al flujo de creación de inventarios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Navegación intuitiva entre registros existentes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61475" y="3971429"/>
            <a:ext cx="10868745" cy="585787"/>
          </a:xfrm>
          <a:prstGeom prst="roundRect">
            <a:avLst>
              <a:gd name="adj" fmla="val 3176"/>
            </a:avLst>
          </a:prstGeom>
          <a:solidFill>
            <a:srgbClr val="7B040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0" descr="preencoded.png"/>
          <p:cNvPicPr>
            <a:picLocks noChangeAspect="1"/>
          </p:cNvPicPr>
          <p:nvPr/>
        </p:nvPicPr>
        <p:blipFill>
          <a:blip r:embed="rId3"/>
          <a:stretch>
            <a:fillRect/>
          </a:stretch>
        </p:blipFill>
        <p:spPr>
          <a:xfrm>
            <a:off x="785495" y="4107458"/>
            <a:ext cx="154976" cy="124023"/>
          </a:xfrm>
          <a:prstGeom prst="rect">
            <a:avLst/>
          </a:prstGeom>
        </p:spPr>
      </p:pic>
      <p:sp>
        <p:nvSpPr>
          <p:cNvPr id="15" name="Text 12"/>
          <p:cNvSpPr/>
          <p:nvPr/>
        </p:nvSpPr>
        <p:spPr>
          <a:xfrm>
            <a:off x="1064491" y="4095353"/>
            <a:ext cx="10341708" cy="34726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7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Noto Color Emoji" pitchFamily="34" charset="0"/>
                <a:ea typeface="Noto Color Emoji" pitchFamily="34" charset="-122"/>
                <a:cs typeface="Noto Color Emoji" pitchFamily="34" charset="-120"/>
              </a:rPr>
              <a:t>📌</a:t>
            </a:r>
            <a:r>
              <a:rPr kumimoji="0" lang="en-US" sz="9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a:t>
            </a:r>
            <a:r>
              <a:rPr kumimoji="0" lang="en-US" sz="95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P-01 Login</a:t>
            </a:r>
            <a:r>
              <a:rPr kumimoji="0" lang="en-US" sz="9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y </a:t>
            </a:r>
            <a:r>
              <a:rPr kumimoji="0" lang="en-US" sz="95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P-02 Lista de Inmuebles</a:t>
            </a:r>
            <a:r>
              <a:rPr kumimoji="0" lang="en-US" sz="9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para contrastar el diseño conceptual con la maquetación final en Flutter.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Imagen 18">
            <a:extLst>
              <a:ext uri="{FF2B5EF4-FFF2-40B4-BE49-F238E27FC236}">
                <a16:creationId xmlns:a16="http://schemas.microsoft.com/office/drawing/2014/main" id="{BAFB43ED-DFAA-D3ED-B411-6D2048876806}"/>
              </a:ext>
            </a:extLst>
          </p:cNvPr>
          <p:cNvPicPr>
            <a:picLocks noChangeAspect="1"/>
          </p:cNvPicPr>
          <p:nvPr/>
        </p:nvPicPr>
        <p:blipFill>
          <a:blip r:embed="rId4"/>
          <a:stretch>
            <a:fillRect/>
          </a:stretch>
        </p:blipFill>
        <p:spPr>
          <a:xfrm>
            <a:off x="4170692" y="4770736"/>
            <a:ext cx="992930" cy="1978223"/>
          </a:xfrm>
          <a:prstGeom prst="rect">
            <a:avLst/>
          </a:prstGeom>
        </p:spPr>
      </p:pic>
      <p:pic>
        <p:nvPicPr>
          <p:cNvPr id="21" name="Imagen 20">
            <a:extLst>
              <a:ext uri="{FF2B5EF4-FFF2-40B4-BE49-F238E27FC236}">
                <a16:creationId xmlns:a16="http://schemas.microsoft.com/office/drawing/2014/main" id="{D3024BFA-283F-DC5A-A189-94711EC0C866}"/>
              </a:ext>
            </a:extLst>
          </p:cNvPr>
          <p:cNvPicPr>
            <a:picLocks noChangeAspect="1"/>
          </p:cNvPicPr>
          <p:nvPr/>
        </p:nvPicPr>
        <p:blipFill>
          <a:blip r:embed="rId5"/>
          <a:stretch>
            <a:fillRect/>
          </a:stretch>
        </p:blipFill>
        <p:spPr>
          <a:xfrm>
            <a:off x="5714833" y="4770736"/>
            <a:ext cx="1443926" cy="205481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09885"/>
            <a:ext cx="1532395" cy="192286"/>
          </a:xfrm>
          <a:prstGeom prst="roundRect">
            <a:avLst>
              <a:gd name="adj" fmla="val 7902"/>
            </a:avLst>
          </a:prstGeom>
          <a:solidFill>
            <a:srgbClr val="4A030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37375" y="547787"/>
            <a:ext cx="1990179" cy="116483"/>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GALERÍA VISUAL — PARTE 2</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740866"/>
            <a:ext cx="10868745" cy="39568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4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Flujo de Captura y Verificación</a:t>
            </a:r>
            <a:endParaRPr kumimoji="0" lang="en-US" sz="2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1281906"/>
            <a:ext cx="10868745" cy="35758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Las herramientas operativas desplegadas directamente en el dispositivo en campo representan el núcleo funcional de la aplicación. El módulo de inspección y la pantalla de confirmación garantizan que los datos capturados sean consistentes y verificables antes de proceder al cierre del inventario.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70295" y="1748532"/>
            <a:ext cx="5462252" cy="2044898"/>
          </a:xfrm>
          <a:prstGeom prst="roundRect">
            <a:avLst>
              <a:gd name="adj" fmla="val 929"/>
            </a:avLst>
          </a:prstGeom>
          <a:solidFill>
            <a:srgbClr val="C8C7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96895" y="1845469"/>
            <a:ext cx="5209052" cy="197743"/>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Instrument Sans Medium" pitchFamily="34" charset="0"/>
                <a:ea typeface="Instrument Sans Medium" pitchFamily="34" charset="-122"/>
                <a:cs typeface="Instrument Sans Medium" pitchFamily="34" charset="-120"/>
              </a:rPr>
              <a:t>P-04 Captura — CrearInventario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96895" y="2140148"/>
            <a:ext cx="5209052" cy="71516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Módulo de Inspección:</a:t>
            </a: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Tarjetas interactivas segmentadas para evaluar las zonas fijas del inmueble: </a:t>
            </a:r>
            <a:r>
              <a:rPr kumimoji="0" lang="en-US" sz="95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Paredes, Cocina y Sala</a:t>
            </a: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Cada zona cuenta con campos de captura de texto multilínea para registrar estados y observaciones específicas, permitiendo una documentación completa y estructurada de la inspección en campo.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96895" y="2942530"/>
            <a:ext cx="5209052" cy="816967"/>
          </a:xfrm>
          <a:prstGeom prst="rect">
            <a:avLst/>
          </a:prstGeom>
          <a:noFill/>
          <a:ln/>
        </p:spPr>
        <p:txBody>
          <a:bodyPr wrap="square" lIns="0" tIns="0" rIns="0" bIns="0" rtlCol="0" anchor="t">
            <a:normAutofit/>
          </a:bodyPr>
          <a:lstStyle/>
          <a:p>
            <a:pPr marL="193040" marR="0" lvl="0" indent="-193040" algn="l" defTabSz="914400" rtl="0" eaLnBrk="1" fontAlgn="auto" latinLnBrk="0" hangingPunct="1">
              <a:lnSpc>
                <a:spcPct val="118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Segmentación por zonas fijas: Paredes, Cocina, Sala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8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Captura de texto multilínea para estados y observaciones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8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Tarjetas interactivas con retroalimentación visual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8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Diseño optimizado para uso con una sola mano en campo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256677" y="1845469"/>
            <a:ext cx="5279893" cy="197743"/>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P-05 Detalle — DetalleInmueble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256677" y="2140148"/>
            <a:ext cx="5279893" cy="71516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Pantalla de Confirmación:</a:t>
            </a: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Validador centralizado que recupera el código capturado del inmueble para asegurar la consistencia del flujo antes del envío. Presenta un resumen consolidado de los datos ingresados, permitiendo al inventarista verificar la información antes de completar el proceso.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256677" y="2942530"/>
            <a:ext cx="5279893" cy="816967"/>
          </a:xfrm>
          <a:prstGeom prst="rect">
            <a:avLst/>
          </a:prstGeom>
          <a:noFill/>
          <a:ln/>
        </p:spPr>
        <p:txBody>
          <a:bodyPr wrap="square" lIns="0" tIns="0" rIns="0" bIns="0" rtlCol="0" anchor="t">
            <a:normAutofit/>
          </a:bodyPr>
          <a:lstStyle/>
          <a:p>
            <a:pPr marL="193040" marR="0" lvl="0" indent="-193040" algn="l" defTabSz="914400" rtl="0" eaLnBrk="1" fontAlgn="auto" latinLnBrk="0" hangingPunct="1">
              <a:lnSpc>
                <a:spcPct val="118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Recuperación y visualización del código del inmueble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8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Resumen consolidado de datos capturados por zona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8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Validación de consistencia antes del cierre del flujo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3040" marR="0" lvl="0" indent="-193040" algn="l" defTabSz="914400" rtl="0" eaLnBrk="1" fontAlgn="auto" latinLnBrk="0" hangingPunct="1">
              <a:lnSpc>
                <a:spcPct val="118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Interfaz de verificación clara y sin distracciones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61475" y="3902472"/>
            <a:ext cx="10868745" cy="611386"/>
          </a:xfrm>
          <a:prstGeom prst="roundRect">
            <a:avLst>
              <a:gd name="adj" fmla="val 3107"/>
            </a:avLst>
          </a:prstGeom>
          <a:solidFill>
            <a:srgbClr val="7B040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0" descr="preencoded.png"/>
          <p:cNvPicPr>
            <a:picLocks noChangeAspect="1"/>
          </p:cNvPicPr>
          <p:nvPr/>
        </p:nvPicPr>
        <p:blipFill>
          <a:blip r:embed="rId3"/>
          <a:stretch>
            <a:fillRect/>
          </a:stretch>
        </p:blipFill>
        <p:spPr>
          <a:xfrm>
            <a:off x="788075" y="4040882"/>
            <a:ext cx="158250" cy="126603"/>
          </a:xfrm>
          <a:prstGeom prst="rect">
            <a:avLst/>
          </a:prstGeom>
        </p:spPr>
      </p:pic>
      <p:sp>
        <p:nvSpPr>
          <p:cNvPr id="15" name="Text 12"/>
          <p:cNvSpPr/>
          <p:nvPr/>
        </p:nvSpPr>
        <p:spPr>
          <a:xfrm>
            <a:off x="1072925" y="4031059"/>
            <a:ext cx="10330695" cy="36393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8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Noto Color Emoji" pitchFamily="34" charset="0"/>
                <a:ea typeface="Noto Color Emoji" pitchFamily="34" charset="-122"/>
                <a:cs typeface="Noto Color Emoji" pitchFamily="34" charset="-120"/>
              </a:rPr>
              <a:t>📌</a:t>
            </a:r>
            <a:r>
              <a:rPr kumimoji="0" lang="en-US" sz="9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a:t>
            </a:r>
            <a:r>
              <a:rPr kumimoji="0" lang="en-US" sz="95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P-04 Crear Inventario</a:t>
            </a:r>
            <a:r>
              <a:rPr kumimoji="0" lang="en-US" sz="9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y </a:t>
            </a:r>
            <a:r>
              <a:rPr kumimoji="0" lang="en-US" sz="95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P-05 Detalle de Inmueble</a:t>
            </a:r>
            <a:r>
              <a:rPr kumimoji="0" lang="en-US" sz="9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para visualizar las herramientas operativas de captura en campo.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Imagen 18">
            <a:extLst>
              <a:ext uri="{FF2B5EF4-FFF2-40B4-BE49-F238E27FC236}">
                <a16:creationId xmlns:a16="http://schemas.microsoft.com/office/drawing/2014/main" id="{889047CC-400D-69AB-DFEF-B10D70E623DC}"/>
              </a:ext>
            </a:extLst>
          </p:cNvPr>
          <p:cNvPicPr>
            <a:picLocks noChangeAspect="1"/>
          </p:cNvPicPr>
          <p:nvPr/>
        </p:nvPicPr>
        <p:blipFill>
          <a:blip r:embed="rId4"/>
          <a:stretch>
            <a:fillRect/>
          </a:stretch>
        </p:blipFill>
        <p:spPr>
          <a:xfrm>
            <a:off x="4448783" y="4706441"/>
            <a:ext cx="871652" cy="2018209"/>
          </a:xfrm>
          <a:prstGeom prst="rect">
            <a:avLst/>
          </a:prstGeom>
        </p:spPr>
      </p:pic>
      <p:pic>
        <p:nvPicPr>
          <p:cNvPr id="21" name="Imagen 20">
            <a:extLst>
              <a:ext uri="{FF2B5EF4-FFF2-40B4-BE49-F238E27FC236}">
                <a16:creationId xmlns:a16="http://schemas.microsoft.com/office/drawing/2014/main" id="{05AF72F2-D04F-5530-E12E-B972756161E7}"/>
              </a:ext>
            </a:extLst>
          </p:cNvPr>
          <p:cNvPicPr>
            <a:picLocks noChangeAspect="1"/>
          </p:cNvPicPr>
          <p:nvPr/>
        </p:nvPicPr>
        <p:blipFill>
          <a:blip r:embed="rId5"/>
          <a:stretch>
            <a:fillRect/>
          </a:stretch>
        </p:blipFill>
        <p:spPr>
          <a:xfrm flipH="1">
            <a:off x="6095847" y="4706441"/>
            <a:ext cx="1019848" cy="201354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32904"/>
            <a:ext cx="1282271" cy="160933"/>
          </a:xfrm>
          <a:prstGeom prst="roundRect">
            <a:avLst>
              <a:gd name="adj" fmla="val 7900"/>
            </a:avLst>
          </a:prstGeom>
          <a:solidFill>
            <a:srgbClr val="4A030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24973" y="564654"/>
            <a:ext cx="1764859" cy="97433"/>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GALERÍA VISUAL — PARTE 3</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720923"/>
            <a:ext cx="10868745" cy="331093"/>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0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Flujo de Cierre y Despacho</a:t>
            </a:r>
            <a:endParaRPr kumimoji="0" lang="en-US" sz="2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1153815"/>
            <a:ext cx="10868745" cy="278011"/>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9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La finalización del ciclo de vida del registro digital se completa con el formulario de envío y la confirmación de salida. Estas interfaces aseguran que el inventario sea correctamente direccionado al destinatario correspondiente y que el usuario reciba retroalimentación inmediata sobre el éxito de la operación.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1475" y="1575991"/>
            <a:ext cx="6417904" cy="16549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P-06 Distribución — EnviarInventario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1475" y="1809353"/>
            <a:ext cx="6417904" cy="41701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9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Formulario de Envío:</a:t>
            </a:r>
            <a:r>
              <a:rPr kumimoji="0" lang="en-US" sz="8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Panel con selectores interactivos de destinatarios y campos de texto validados localmente. El inventarista puede seleccionar el perfil del destinatario final entre </a:t>
            </a:r>
            <a:r>
              <a:rPr kumimoji="0" lang="en-US" sz="8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Inquilino, Propietario o Asesor</a:t>
            </a:r>
            <a:r>
              <a:rPr kumimoji="0" lang="en-US" sz="8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asegurando el direccionamiento correcto del reporte generado.</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61475" y="2287389"/>
            <a:ext cx="6417904" cy="627162"/>
          </a:xfrm>
          <a:prstGeom prst="rect">
            <a:avLst/>
          </a:prstGeom>
          <a:noFill/>
          <a:ln/>
        </p:spPr>
        <p:txBody>
          <a:bodyPr wrap="square" lIns="0" tIns="0" rIns="0" bIns="0" rtlCol="0" anchor="t">
            <a:normAutofit/>
          </a:bodyPr>
          <a:lstStyle/>
          <a:p>
            <a:pPr marL="162560" marR="0" lvl="0" indent="-162560" algn="l" defTabSz="914400" rtl="0" eaLnBrk="1" fontAlgn="auto" latinLnBrk="0" hangingPunct="1">
              <a:lnSpc>
                <a:spcPct val="109000"/>
              </a:lnSpc>
              <a:spcBef>
                <a:spcPts val="0"/>
              </a:spcBef>
              <a:spcAft>
                <a:spcPts val="0"/>
              </a:spcAft>
              <a:buClrTx/>
              <a:buSzPct val="100000"/>
              <a:buFontTx/>
              <a:buChar char="•"/>
              <a:tabLst/>
              <a:defRPr/>
            </a:pPr>
            <a:r>
              <a:rPr kumimoji="0" lang="en-US" sz="8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Selectores interactivos de destinatarios (Inquilino / Propietario / Asesor)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62560" marR="0" lvl="0" indent="-162560" algn="l" defTabSz="914400" rtl="0" eaLnBrk="1" fontAlgn="auto" latinLnBrk="0" hangingPunct="1">
              <a:lnSpc>
                <a:spcPct val="109000"/>
              </a:lnSpc>
              <a:spcBef>
                <a:spcPts val="0"/>
              </a:spcBef>
              <a:spcAft>
                <a:spcPts val="0"/>
              </a:spcAft>
              <a:buClrTx/>
              <a:buSzPct val="100000"/>
              <a:buFontTx/>
              <a:buChar char="•"/>
              <a:tabLst/>
              <a:defRPr/>
            </a:pPr>
            <a:r>
              <a:rPr kumimoji="0" lang="en-US" sz="8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Campos de texto con validación local antes del envío</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62560" marR="0" lvl="0" indent="-162560" algn="l" defTabSz="914400" rtl="0" eaLnBrk="1" fontAlgn="auto" latinLnBrk="0" hangingPunct="1">
              <a:lnSpc>
                <a:spcPct val="109000"/>
              </a:lnSpc>
              <a:spcBef>
                <a:spcPts val="0"/>
              </a:spcBef>
              <a:spcAft>
                <a:spcPts val="0"/>
              </a:spcAft>
              <a:buClrTx/>
              <a:buSzPct val="100000"/>
              <a:buFontTx/>
              <a:buChar char="•"/>
              <a:tabLst/>
              <a:defRPr/>
            </a:pPr>
            <a:r>
              <a:rPr kumimoji="0" lang="en-US" sz="8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Direccionamiento del reporte según el perfil seleccionado</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62560" marR="0" lvl="0" indent="-162560" algn="l" defTabSz="914400" rtl="0" eaLnBrk="1" fontAlgn="auto" latinLnBrk="0" hangingPunct="1">
              <a:lnSpc>
                <a:spcPct val="109000"/>
              </a:lnSpc>
              <a:spcBef>
                <a:spcPts val="0"/>
              </a:spcBef>
              <a:spcAft>
                <a:spcPts val="0"/>
              </a:spcAft>
              <a:buClrTx/>
              <a:buSzPct val="100000"/>
              <a:buFontTx/>
              <a:buChar char="•"/>
              <a:tabLst/>
              <a:defRPr/>
            </a:pPr>
            <a:r>
              <a:rPr kumimoji="0" lang="en-US" sz="8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Interfaz de cierre clara y orientada a la acción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61475" y="3017242"/>
            <a:ext cx="6417904" cy="12700"/>
          </a:xfrm>
          <a:prstGeom prst="roundRect">
            <a:avLst>
              <a:gd name="adj" fmla="val 49999"/>
            </a:avLst>
          </a:prstGeom>
          <a:solidFill>
            <a:srgbClr val="C7CDD6">
              <a:alpha val="5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61475" y="3132634"/>
            <a:ext cx="6417904" cy="16549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Confirmación de Salida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61475" y="3365996"/>
            <a:ext cx="6417904" cy="41701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9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Notificación en Pantalla:</a:t>
            </a:r>
            <a:r>
              <a:rPr kumimoji="0" lang="en-US" sz="8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Elementos emergentes nativos (</a:t>
            </a:r>
            <a:r>
              <a:rPr kumimoji="0" lang="en-US" sz="8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SnackBar</a:t>
            </a:r>
            <a:r>
              <a:rPr kumimoji="0" lang="en-US" sz="8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informan al usuario el éxito de la operación de envío. Esta retroalimentación inmediata confirma que el inventario ha sido procesado correctamente y cierra el ciclo operativo de manera satisfactoria.</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7267790" y="1508125"/>
            <a:ext cx="4345077" cy="2897882"/>
          </a:xfrm>
          <a:prstGeom prst="roundRect">
            <a:avLst>
              <a:gd name="adj" fmla="val 548"/>
            </a:avLst>
          </a:prstGeom>
          <a:solidFill>
            <a:srgbClr val="FDC4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373654" y="1575991"/>
            <a:ext cx="4133350" cy="16549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Instrument Sans Medium" pitchFamily="34" charset="0"/>
                <a:ea typeface="Instrument Sans Medium" pitchFamily="34" charset="-122"/>
                <a:cs typeface="Instrument Sans Medium" pitchFamily="34" charset="-120"/>
              </a:rPr>
              <a:t>Resumen del Ciclo Completo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373654" y="1809353"/>
            <a:ext cx="4133350" cy="55602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9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El flujo de cierre representa la culminación de todo el proceso de inspección, desde el acceso inicial hasta el despacho del inventario. Cada pantalla del flujo contribuye a garantizar la integridad y trazabilidad de los datos capturados en campo.</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7373654" y="2441674"/>
            <a:ext cx="4133350" cy="584101"/>
          </a:xfrm>
          <a:prstGeom prst="roundRect">
            <a:avLst>
              <a:gd name="adj" fmla="val 2721"/>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7479518" y="2547541"/>
            <a:ext cx="3921622" cy="16549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Instrument Sans Medium" pitchFamily="34" charset="0"/>
                <a:ea typeface="Instrument Sans Medium" pitchFamily="34" charset="-122"/>
                <a:cs typeface="Instrument Sans Medium" pitchFamily="34" charset="-120"/>
              </a:rPr>
              <a:t>6 Pantallas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479518" y="2780903"/>
            <a:ext cx="3921622" cy="139005"/>
          </a:xfrm>
          <a:prstGeom prst="rect">
            <a:avLst/>
          </a:prstGeom>
          <a:noFill/>
          <a:ln/>
        </p:spPr>
        <p:txBody>
          <a:bodyPr wrap="none" lIns="0" tIns="0" rIns="0" bIns="0" rtlCol="0" anchor="t"/>
          <a:lstStyle/>
          <a:p>
            <a:pPr marL="0" marR="0" lvl="0" indent="0" algn="l" defTabSz="914400" rtl="0" eaLnBrk="1" fontAlgn="auto" latinLnBrk="0" hangingPunct="1">
              <a:lnSpc>
                <a:spcPct val="109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Flujo secuencial completo</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7373654" y="3093641"/>
            <a:ext cx="4133350" cy="584101"/>
          </a:xfrm>
          <a:prstGeom prst="roundRect">
            <a:avLst>
              <a:gd name="adj" fmla="val 2721"/>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7479518" y="3199507"/>
            <a:ext cx="3921622" cy="16549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Instrument Sans Medium" pitchFamily="34" charset="0"/>
                <a:ea typeface="Instrument Sans Medium" pitchFamily="34" charset="-122"/>
                <a:cs typeface="Instrument Sans Medium" pitchFamily="34" charset="-120"/>
              </a:rPr>
              <a:t>3 Destinatarios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479518" y="3432870"/>
            <a:ext cx="3921622" cy="139005"/>
          </a:xfrm>
          <a:prstGeom prst="rect">
            <a:avLst/>
          </a:prstGeom>
          <a:noFill/>
          <a:ln/>
        </p:spPr>
        <p:txBody>
          <a:bodyPr wrap="none" lIns="0" tIns="0" rIns="0" bIns="0" rtlCol="0" anchor="t"/>
          <a:lstStyle/>
          <a:p>
            <a:pPr marL="0" marR="0" lvl="0" indent="0" algn="l" defTabSz="914400" rtl="0" eaLnBrk="1" fontAlgn="auto" latinLnBrk="0" hangingPunct="1">
              <a:lnSpc>
                <a:spcPct val="109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Inquilino, Propietario, Asesor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373654" y="3745607"/>
            <a:ext cx="4133350" cy="584101"/>
          </a:xfrm>
          <a:prstGeom prst="roundRect">
            <a:avLst>
              <a:gd name="adj" fmla="val 2721"/>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479518" y="3851473"/>
            <a:ext cx="3921622" cy="16549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Instrument Sans Medium" pitchFamily="34" charset="0"/>
                <a:ea typeface="Instrument Sans Medium" pitchFamily="34" charset="-122"/>
                <a:cs typeface="Instrument Sans Medium" pitchFamily="34" charset="-120"/>
              </a:rPr>
              <a:t>1 Ciclo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7479518" y="4084836"/>
            <a:ext cx="3921622" cy="139005"/>
          </a:xfrm>
          <a:prstGeom prst="rect">
            <a:avLst/>
          </a:prstGeom>
          <a:noFill/>
          <a:ln/>
        </p:spPr>
        <p:txBody>
          <a:bodyPr wrap="none" lIns="0" tIns="0" rIns="0" bIns="0" rtlCol="0" anchor="t"/>
          <a:lstStyle/>
          <a:p>
            <a:pPr marL="0" marR="0" lvl="0" indent="0" algn="l" defTabSz="914400" rtl="0" eaLnBrk="1" fontAlgn="auto" latinLnBrk="0" hangingPunct="1">
              <a:lnSpc>
                <a:spcPct val="109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Registro digital completo</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61475" y="4482306"/>
            <a:ext cx="10868745" cy="320675"/>
          </a:xfrm>
          <a:prstGeom prst="roundRect">
            <a:avLst>
              <a:gd name="adj" fmla="val 4956"/>
            </a:avLst>
          </a:prstGeom>
          <a:solidFill>
            <a:srgbClr val="7B040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0" descr="preencoded.png"/>
          <p:cNvPicPr>
            <a:picLocks noChangeAspect="1"/>
          </p:cNvPicPr>
          <p:nvPr/>
        </p:nvPicPr>
        <p:blipFill>
          <a:blip r:embed="rId3"/>
          <a:stretch>
            <a:fillRect/>
          </a:stretch>
        </p:blipFill>
        <p:spPr>
          <a:xfrm>
            <a:off x="767339" y="4579144"/>
            <a:ext cx="132355" cy="105866"/>
          </a:xfrm>
          <a:prstGeom prst="rect">
            <a:avLst/>
          </a:prstGeom>
        </p:spPr>
      </p:pic>
      <p:sp>
        <p:nvSpPr>
          <p:cNvPr id="26" name="Text 23"/>
          <p:cNvSpPr/>
          <p:nvPr/>
        </p:nvSpPr>
        <p:spPr>
          <a:xfrm>
            <a:off x="1005557" y="4576564"/>
            <a:ext cx="11028384" cy="139005"/>
          </a:xfrm>
          <a:prstGeom prst="rect">
            <a:avLst/>
          </a:prstGeom>
          <a:noFill/>
          <a:ln/>
        </p:spPr>
        <p:txBody>
          <a:bodyPr wrap="none" lIns="0" tIns="0" rIns="0" bIns="0" rtlCol="0" anchor="t"/>
          <a:lstStyle/>
          <a:p>
            <a:pPr lvl="0">
              <a:lnSpc>
                <a:spcPct val="109000"/>
              </a:lnSpc>
              <a:defRPr/>
            </a:pPr>
            <a:r>
              <a:rPr kumimoji="0" lang="en-US" sz="800" b="0" i="0" u="none" strike="noStrike" kern="1200" cap="none" spc="0" normalizeH="0" baseline="0" noProof="0" dirty="0">
                <a:ln>
                  <a:noFill/>
                </a:ln>
                <a:solidFill>
                  <a:srgbClr val="000000"/>
                </a:solidFill>
                <a:effectLst/>
                <a:uLnTx/>
                <a:uFillTx/>
                <a:latin typeface="Noto Color Emoji" pitchFamily="34" charset="0"/>
                <a:ea typeface="Noto Color Emoji" pitchFamily="34" charset="-122"/>
                <a:cs typeface="Noto Color Emoji" pitchFamily="34" charset="-120"/>
              </a:rPr>
              <a:t>📌</a:t>
            </a:r>
            <a:r>
              <a:rPr kumimoji="0" lang="en-US" sz="8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a:t>
            </a:r>
            <a:r>
              <a:rPr lang="en-US" sz="800" b="1" dirty="0">
                <a:solidFill>
                  <a:srgbClr val="FFFFFF"/>
                </a:solidFill>
                <a:latin typeface="Inter Bold" pitchFamily="34" charset="0"/>
                <a:ea typeface="Inter Bold" pitchFamily="34" charset="-122"/>
                <a:cs typeface="Inter Bold" pitchFamily="34" charset="-120"/>
              </a:rPr>
              <a:t>P-06 </a:t>
            </a:r>
            <a:r>
              <a:rPr lang="en-US" sz="800" b="1" dirty="0" err="1">
                <a:solidFill>
                  <a:srgbClr val="FFFFFF"/>
                </a:solidFill>
                <a:latin typeface="Inter Bold" pitchFamily="34" charset="0"/>
                <a:ea typeface="Inter Bold" pitchFamily="34" charset="-122"/>
                <a:cs typeface="Inter Bold" pitchFamily="34" charset="-120"/>
              </a:rPr>
              <a:t>Resumen</a:t>
            </a:r>
            <a:r>
              <a:rPr lang="en-US" sz="800" b="1" dirty="0">
                <a:solidFill>
                  <a:srgbClr val="FFFFFF"/>
                </a:solidFill>
                <a:latin typeface="Inter Bold" pitchFamily="34" charset="0"/>
                <a:ea typeface="Inter Bold" pitchFamily="34" charset="-122"/>
                <a:cs typeface="Inter Bold" pitchFamily="34" charset="-120"/>
              </a:rPr>
              <a:t> </a:t>
            </a:r>
            <a:r>
              <a:rPr lang="en-US" sz="800" b="1" dirty="0" err="1">
                <a:solidFill>
                  <a:srgbClr val="FFFFFF"/>
                </a:solidFill>
                <a:latin typeface="Inter Bold" pitchFamily="34" charset="0"/>
                <a:ea typeface="Inter Bold" pitchFamily="34" charset="-122"/>
                <a:cs typeface="Inter Bold" pitchFamily="34" charset="-120"/>
              </a:rPr>
              <a:t>Inventario</a:t>
            </a:r>
            <a:r>
              <a:rPr lang="en-US" sz="800" dirty="0">
                <a:solidFill>
                  <a:srgbClr val="FFFFFF"/>
                </a:solidFill>
                <a:latin typeface="Inter" pitchFamily="34" charset="0"/>
                <a:ea typeface="Inter" pitchFamily="34" charset="-122"/>
                <a:cs typeface="Inter" pitchFamily="34" charset="-120"/>
              </a:rPr>
              <a:t>  </a:t>
            </a:r>
            <a:r>
              <a:rPr kumimoji="0" lang="en-US" sz="80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P-07 Enviar Inventario</a:t>
            </a:r>
            <a:r>
              <a:rPr kumimoji="0" lang="en-US" sz="8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para visualizar el panel de envío y la notificación de confirmación de salida.</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 name="Imagen 29">
            <a:extLst>
              <a:ext uri="{FF2B5EF4-FFF2-40B4-BE49-F238E27FC236}">
                <a16:creationId xmlns:a16="http://schemas.microsoft.com/office/drawing/2014/main" id="{99538DA2-B8DF-108A-80A8-788D6BE08E7E}"/>
              </a:ext>
            </a:extLst>
          </p:cNvPr>
          <p:cNvPicPr>
            <a:picLocks noChangeAspect="1"/>
          </p:cNvPicPr>
          <p:nvPr/>
        </p:nvPicPr>
        <p:blipFill>
          <a:blip r:embed="rId4"/>
          <a:stretch>
            <a:fillRect/>
          </a:stretch>
        </p:blipFill>
        <p:spPr>
          <a:xfrm flipH="1">
            <a:off x="4190522" y="4952140"/>
            <a:ext cx="718271" cy="1687511"/>
          </a:xfrm>
          <a:prstGeom prst="rect">
            <a:avLst/>
          </a:prstGeom>
        </p:spPr>
      </p:pic>
      <p:pic>
        <p:nvPicPr>
          <p:cNvPr id="32" name="Imagen 31">
            <a:extLst>
              <a:ext uri="{FF2B5EF4-FFF2-40B4-BE49-F238E27FC236}">
                <a16:creationId xmlns:a16="http://schemas.microsoft.com/office/drawing/2014/main" id="{24A81D83-4539-67EF-D3D4-6FA5B2A4674E}"/>
              </a:ext>
            </a:extLst>
          </p:cNvPr>
          <p:cNvPicPr>
            <a:picLocks noChangeAspect="1"/>
          </p:cNvPicPr>
          <p:nvPr/>
        </p:nvPicPr>
        <p:blipFill>
          <a:blip r:embed="rId5"/>
          <a:stretch>
            <a:fillRect/>
          </a:stretch>
        </p:blipFill>
        <p:spPr>
          <a:xfrm>
            <a:off x="6116477" y="4973538"/>
            <a:ext cx="640200" cy="168751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688479"/>
            <a:ext cx="865662" cy="251420"/>
          </a:xfrm>
          <a:prstGeom prst="roundRect">
            <a:avLst>
              <a:gd name="adj" fmla="val 7894"/>
            </a:avLst>
          </a:prstGeom>
          <a:solidFill>
            <a:srgbClr val="4A030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60691" y="738088"/>
            <a:ext cx="1276814" cy="152202"/>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DISEÑO UI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1005979"/>
            <a:ext cx="10868745" cy="516731"/>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Galería Visual de Mockups del Sistema</a:t>
            </a:r>
            <a:endParaRPr kumimoji="0" lang="en-US" sz="3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1770757"/>
            <a:ext cx="10868745" cy="529233"/>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El diseño de interfaz mantiene un estilo gráfico homogéneo basado en barras superiores (</a:t>
            </a:r>
            <a:r>
              <a:rPr kumimoji="0" lang="en-US" sz="130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AppBar</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en azul oscuro (</a:t>
            </a:r>
            <a:r>
              <a:rPr kumimoji="0" lang="en-US" sz="130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Color.fromARGB(255, 2, 0, 95)</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y fondos limpios que priorizan la legibilidad en campo.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5"/>
          <p:cNvSpPr/>
          <p:nvPr/>
        </p:nvSpPr>
        <p:spPr>
          <a:xfrm>
            <a:off x="661475" y="4952008"/>
            <a:ext cx="3622882" cy="1217513"/>
          </a:xfrm>
          <a:custGeom>
            <a:avLst/>
            <a:gdLst/>
            <a:ahLst/>
            <a:cxnLst/>
            <a:rect l="l" t="t" r="r" b="b"/>
            <a:pathLst>
              <a:path w="3622882" h="1217513">
                <a:moveTo>
                  <a:pt x="20674" y="0"/>
                </a:moveTo>
                <a:lnTo>
                  <a:pt x="3622882" y="0"/>
                </a:lnTo>
                <a:lnTo>
                  <a:pt x="3622882" y="1217513"/>
                </a:lnTo>
                <a:lnTo>
                  <a:pt x="20674" y="1217513"/>
                </a:lnTo>
                <a:arcTo wR="20674" hR="20674" stAng="5400000" swAng="5400000"/>
                <a:lnTo>
                  <a:pt x="0" y="20674"/>
                </a:lnTo>
                <a:arcTo wR="20674" hR="20674" stAng="10800000" swAng="5400000"/>
                <a:close/>
              </a:path>
            </a:pathLst>
          </a:cu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6"/>
          <p:cNvSpPr/>
          <p:nvPr/>
        </p:nvSpPr>
        <p:spPr>
          <a:xfrm>
            <a:off x="826769" y="5117306"/>
            <a:ext cx="3292293" cy="25846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P-01 y P-02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7"/>
          <p:cNvSpPr/>
          <p:nvPr/>
        </p:nvSpPr>
        <p:spPr>
          <a:xfrm>
            <a:off x="826769" y="5474990"/>
            <a:ext cx="3292293" cy="529233"/>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Login y Lista de Inventarios — Punto de entrada y navegación principal.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9"/>
          <p:cNvSpPr/>
          <p:nvPr/>
        </p:nvSpPr>
        <p:spPr>
          <a:xfrm>
            <a:off x="4284357" y="4952008"/>
            <a:ext cx="19050" cy="1217513"/>
          </a:xfrm>
          <a:prstGeom prst="roundRect">
            <a:avLst>
              <a:gd name="adj" fmla="val 49999"/>
            </a:avLst>
          </a:prstGeom>
          <a:solidFill>
            <a:srgbClr val="5C5C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n 23">
            <a:extLst>
              <a:ext uri="{FF2B5EF4-FFF2-40B4-BE49-F238E27FC236}">
                <a16:creationId xmlns:a16="http://schemas.microsoft.com/office/drawing/2014/main" id="{E66ECCF9-5376-0173-EA06-D6811A4B5992}"/>
              </a:ext>
            </a:extLst>
          </p:cNvPr>
          <p:cNvPicPr>
            <a:picLocks noChangeAspect="1"/>
          </p:cNvPicPr>
          <p:nvPr/>
        </p:nvPicPr>
        <p:blipFill>
          <a:blip r:embed="rId3"/>
          <a:stretch>
            <a:fillRect/>
          </a:stretch>
        </p:blipFill>
        <p:spPr>
          <a:xfrm>
            <a:off x="4828655" y="2355536"/>
            <a:ext cx="1998476" cy="3981580"/>
          </a:xfrm>
          <a:prstGeom prst="rect">
            <a:avLst/>
          </a:prstGeom>
        </p:spPr>
      </p:pic>
      <p:pic>
        <p:nvPicPr>
          <p:cNvPr id="26" name="Imagen 25">
            <a:extLst>
              <a:ext uri="{FF2B5EF4-FFF2-40B4-BE49-F238E27FC236}">
                <a16:creationId xmlns:a16="http://schemas.microsoft.com/office/drawing/2014/main" id="{F28F18B9-D0A6-28C0-3552-B9A395B2743D}"/>
              </a:ext>
            </a:extLst>
          </p:cNvPr>
          <p:cNvPicPr>
            <a:picLocks noChangeAspect="1"/>
          </p:cNvPicPr>
          <p:nvPr/>
        </p:nvPicPr>
        <p:blipFill>
          <a:blip r:embed="rId4"/>
          <a:stretch>
            <a:fillRect/>
          </a:stretch>
        </p:blipFill>
        <p:spPr>
          <a:xfrm>
            <a:off x="7907239" y="2355536"/>
            <a:ext cx="2849361" cy="40548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8930-8CEC-F396-5B2A-58214B9C9FE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6DBBB08-1C79-DC2F-DC4C-FDEC96939448}"/>
              </a:ext>
            </a:extLst>
          </p:cNvPr>
          <p:cNvSpPr/>
          <p:nvPr/>
        </p:nvSpPr>
        <p:spPr>
          <a:xfrm>
            <a:off x="661475" y="688479"/>
            <a:ext cx="865662" cy="251420"/>
          </a:xfrm>
          <a:prstGeom prst="roundRect">
            <a:avLst>
              <a:gd name="adj" fmla="val 7894"/>
            </a:avLst>
          </a:prstGeom>
          <a:solidFill>
            <a:srgbClr val="4A030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B0E9724-48DF-C0EA-57B7-1F561AA1F5E5}"/>
              </a:ext>
            </a:extLst>
          </p:cNvPr>
          <p:cNvSpPr/>
          <p:nvPr/>
        </p:nvSpPr>
        <p:spPr>
          <a:xfrm>
            <a:off x="760691" y="738088"/>
            <a:ext cx="1276814" cy="152202"/>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DISEÑO UI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F1626D24-E8D6-E27C-8C3C-5190BE7603FB}"/>
              </a:ext>
            </a:extLst>
          </p:cNvPr>
          <p:cNvSpPr/>
          <p:nvPr/>
        </p:nvSpPr>
        <p:spPr>
          <a:xfrm>
            <a:off x="661475" y="1005979"/>
            <a:ext cx="10868745" cy="516731"/>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Galería Visual de Mockups del Sistema</a:t>
            </a:r>
            <a:endParaRPr kumimoji="0" lang="en-US" sz="3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C243C268-D96A-2D6B-D745-4DF90FC3405C}"/>
              </a:ext>
            </a:extLst>
          </p:cNvPr>
          <p:cNvSpPr/>
          <p:nvPr/>
        </p:nvSpPr>
        <p:spPr>
          <a:xfrm>
            <a:off x="661475" y="1770757"/>
            <a:ext cx="10868745" cy="529233"/>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El diseño de interfaz mantiene un estilo gráfico homogéneo basado en barras superiores (</a:t>
            </a:r>
            <a:r>
              <a:rPr kumimoji="0" lang="en-US" sz="130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AppBar</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en azul oscuro (</a:t>
            </a:r>
            <a:r>
              <a:rPr kumimoji="0" lang="en-US" sz="130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Color.fromARGB(255, 2, 0, 95)</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y fondos limpios que priorizan la legibilidad en campo.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8">
            <a:extLst>
              <a:ext uri="{FF2B5EF4-FFF2-40B4-BE49-F238E27FC236}">
                <a16:creationId xmlns:a16="http://schemas.microsoft.com/office/drawing/2014/main" id="{D135D9C8-4849-D216-AA2A-D0F99C5776F1}"/>
              </a:ext>
            </a:extLst>
          </p:cNvPr>
          <p:cNvSpPr/>
          <p:nvPr/>
        </p:nvSpPr>
        <p:spPr>
          <a:xfrm>
            <a:off x="2970946" y="4257477"/>
            <a:ext cx="3622882" cy="1217513"/>
          </a:xfrm>
          <a:prstGeom prst="rect">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9">
            <a:extLst>
              <a:ext uri="{FF2B5EF4-FFF2-40B4-BE49-F238E27FC236}">
                <a16:creationId xmlns:a16="http://schemas.microsoft.com/office/drawing/2014/main" id="{CC5EFC6F-0B50-C934-C181-8901E5640538}"/>
              </a:ext>
            </a:extLst>
          </p:cNvPr>
          <p:cNvSpPr/>
          <p:nvPr/>
        </p:nvSpPr>
        <p:spPr>
          <a:xfrm>
            <a:off x="3073433" y="4229975"/>
            <a:ext cx="19050" cy="1217513"/>
          </a:xfrm>
          <a:prstGeom prst="roundRect">
            <a:avLst>
              <a:gd name="adj" fmla="val 49999"/>
            </a:avLst>
          </a:prstGeom>
          <a:solidFill>
            <a:srgbClr val="5C5C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0">
            <a:extLst>
              <a:ext uri="{FF2B5EF4-FFF2-40B4-BE49-F238E27FC236}">
                <a16:creationId xmlns:a16="http://schemas.microsoft.com/office/drawing/2014/main" id="{0FDF28BB-5131-F860-B4A7-410056E40CD6}"/>
              </a:ext>
            </a:extLst>
          </p:cNvPr>
          <p:cNvSpPr/>
          <p:nvPr/>
        </p:nvSpPr>
        <p:spPr>
          <a:xfrm>
            <a:off x="3194970" y="4365330"/>
            <a:ext cx="3292293" cy="25846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P-04 y P-05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1">
            <a:extLst>
              <a:ext uri="{FF2B5EF4-FFF2-40B4-BE49-F238E27FC236}">
                <a16:creationId xmlns:a16="http://schemas.microsoft.com/office/drawing/2014/main" id="{DB182C44-9A8C-E119-81DE-0E004D85D292}"/>
              </a:ext>
            </a:extLst>
          </p:cNvPr>
          <p:cNvSpPr/>
          <p:nvPr/>
        </p:nvSpPr>
        <p:spPr>
          <a:xfrm>
            <a:off x="3194969" y="4773366"/>
            <a:ext cx="3292293" cy="529233"/>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Crear Inventario y Detalle — Captura operativa y consolidación de datos.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3">
            <a:extLst>
              <a:ext uri="{FF2B5EF4-FFF2-40B4-BE49-F238E27FC236}">
                <a16:creationId xmlns:a16="http://schemas.microsoft.com/office/drawing/2014/main" id="{7A18DBA5-7AA9-3B02-5C8E-41933D9DF64F}"/>
              </a:ext>
            </a:extLst>
          </p:cNvPr>
          <p:cNvSpPr/>
          <p:nvPr/>
        </p:nvSpPr>
        <p:spPr>
          <a:xfrm>
            <a:off x="7907239" y="4952008"/>
            <a:ext cx="19050" cy="1217513"/>
          </a:xfrm>
          <a:prstGeom prst="roundRect">
            <a:avLst>
              <a:gd name="adj" fmla="val 49999"/>
            </a:avLst>
          </a:prstGeom>
          <a:solidFill>
            <a:srgbClr val="5C5C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n 23">
            <a:extLst>
              <a:ext uri="{FF2B5EF4-FFF2-40B4-BE49-F238E27FC236}">
                <a16:creationId xmlns:a16="http://schemas.microsoft.com/office/drawing/2014/main" id="{1D1AAE33-A0BF-1B2D-1C7F-CE1DE24C2BFF}"/>
              </a:ext>
            </a:extLst>
          </p:cNvPr>
          <p:cNvPicPr>
            <a:picLocks noChangeAspect="1"/>
          </p:cNvPicPr>
          <p:nvPr/>
        </p:nvPicPr>
        <p:blipFill>
          <a:blip r:embed="rId3"/>
          <a:stretch>
            <a:fillRect/>
          </a:stretch>
        </p:blipFill>
        <p:spPr>
          <a:xfrm>
            <a:off x="913263" y="2349018"/>
            <a:ext cx="1730184" cy="4006042"/>
          </a:xfrm>
          <a:prstGeom prst="rect">
            <a:avLst/>
          </a:prstGeom>
        </p:spPr>
      </p:pic>
      <p:pic>
        <p:nvPicPr>
          <p:cNvPr id="26" name="Imagen 25">
            <a:extLst>
              <a:ext uri="{FF2B5EF4-FFF2-40B4-BE49-F238E27FC236}">
                <a16:creationId xmlns:a16="http://schemas.microsoft.com/office/drawing/2014/main" id="{E4E32A30-8AC9-DF90-BA73-533DBFE8C29F}"/>
              </a:ext>
            </a:extLst>
          </p:cNvPr>
          <p:cNvPicPr>
            <a:picLocks noChangeAspect="1"/>
          </p:cNvPicPr>
          <p:nvPr/>
        </p:nvPicPr>
        <p:blipFill>
          <a:blip r:embed="rId4"/>
          <a:stretch>
            <a:fillRect/>
          </a:stretch>
        </p:blipFill>
        <p:spPr>
          <a:xfrm>
            <a:off x="7786302" y="2167602"/>
            <a:ext cx="2155719" cy="4256163"/>
          </a:xfrm>
          <a:prstGeom prst="rect">
            <a:avLst/>
          </a:prstGeom>
        </p:spPr>
      </p:pic>
    </p:spTree>
    <p:extLst>
      <p:ext uri="{BB962C8B-B14F-4D97-AF65-F5344CB8AC3E}">
        <p14:creationId xmlns:p14="http://schemas.microsoft.com/office/powerpoint/2010/main" val="2960135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D12C5-46D9-0144-37B5-B7C0BA5193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2075A0-FA03-BCEC-2F4D-4B1A85EE879B}"/>
              </a:ext>
            </a:extLst>
          </p:cNvPr>
          <p:cNvSpPr/>
          <p:nvPr/>
        </p:nvSpPr>
        <p:spPr>
          <a:xfrm>
            <a:off x="661475" y="688479"/>
            <a:ext cx="865662" cy="251420"/>
          </a:xfrm>
          <a:prstGeom prst="roundRect">
            <a:avLst>
              <a:gd name="adj" fmla="val 7894"/>
            </a:avLst>
          </a:prstGeom>
          <a:solidFill>
            <a:srgbClr val="4A030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A3E50F39-C7FB-AE8E-5724-BCF518939EDB}"/>
              </a:ext>
            </a:extLst>
          </p:cNvPr>
          <p:cNvSpPr/>
          <p:nvPr/>
        </p:nvSpPr>
        <p:spPr>
          <a:xfrm>
            <a:off x="760691" y="738088"/>
            <a:ext cx="1276814" cy="152202"/>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DISEÑO UI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B0943F93-6432-F0EC-2304-3BDC0A516BED}"/>
              </a:ext>
            </a:extLst>
          </p:cNvPr>
          <p:cNvSpPr/>
          <p:nvPr/>
        </p:nvSpPr>
        <p:spPr>
          <a:xfrm>
            <a:off x="661475" y="1005979"/>
            <a:ext cx="10868745" cy="516731"/>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Galería Visual de Mockups del Sistema</a:t>
            </a:r>
            <a:endParaRPr kumimoji="0" lang="en-US" sz="3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81FCFA02-602F-0963-464A-FB46705EB88A}"/>
              </a:ext>
            </a:extLst>
          </p:cNvPr>
          <p:cNvSpPr/>
          <p:nvPr/>
        </p:nvSpPr>
        <p:spPr>
          <a:xfrm>
            <a:off x="661475" y="1770757"/>
            <a:ext cx="10868745" cy="529233"/>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El diseño de interfaz mantiene un estilo gráfico homogéneo basado en barras superiores (</a:t>
            </a:r>
            <a:r>
              <a:rPr kumimoji="0" lang="en-US" sz="130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AppBar</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en azul oscuro (</a:t>
            </a:r>
            <a:r>
              <a:rPr kumimoji="0" lang="en-US" sz="1300" b="0" i="0" u="none" strike="noStrike" kern="1200" cap="none" spc="0" normalizeH="0" baseline="0" noProof="0" dirty="0">
                <a:ln>
                  <a:noFill/>
                </a:ln>
                <a:solidFill>
                  <a:srgbClr val="C7CDD6"/>
                </a:solidFill>
                <a:effectLst/>
                <a:highlight>
                  <a:srgbClr val="313136"/>
                </a:highlight>
                <a:uLnTx/>
                <a:uFillTx/>
                <a:latin typeface="Consolas" pitchFamily="34" charset="0"/>
                <a:ea typeface="Consolas" pitchFamily="34" charset="-122"/>
                <a:cs typeface="Consolas" pitchFamily="34" charset="-120"/>
              </a:rPr>
              <a:t>Color.fromARGB(255, 2, 0, 95)</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y fondos limpios que priorizan la legibilidad en campo.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2">
            <a:extLst>
              <a:ext uri="{FF2B5EF4-FFF2-40B4-BE49-F238E27FC236}">
                <a16:creationId xmlns:a16="http://schemas.microsoft.com/office/drawing/2014/main" id="{B2480317-7F09-6DDA-6CBA-56EEA45ACC7B}"/>
              </a:ext>
            </a:extLst>
          </p:cNvPr>
          <p:cNvSpPr/>
          <p:nvPr/>
        </p:nvSpPr>
        <p:spPr>
          <a:xfrm>
            <a:off x="7907239" y="4952008"/>
            <a:ext cx="3622882" cy="1217513"/>
          </a:xfrm>
          <a:custGeom>
            <a:avLst/>
            <a:gdLst/>
            <a:ahLst/>
            <a:cxnLst/>
            <a:rect l="l" t="t" r="r" b="b"/>
            <a:pathLst>
              <a:path w="3622882" h="1217513">
                <a:moveTo>
                  <a:pt x="0" y="0"/>
                </a:moveTo>
                <a:lnTo>
                  <a:pt x="3602208" y="0"/>
                </a:lnTo>
                <a:arcTo wR="20674" hR="20674" stAng="16200000" swAng="5400000"/>
                <a:lnTo>
                  <a:pt x="3622882" y="1196839"/>
                </a:lnTo>
                <a:arcTo wR="20674" hR="20674" stAng="0" swAng="5400000"/>
                <a:lnTo>
                  <a:pt x="0" y="1217513"/>
                </a:lnTo>
                <a:lnTo>
                  <a:pt x="0" y="0"/>
                </a:lnTo>
                <a:close/>
              </a:path>
            </a:pathLst>
          </a:cu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3">
            <a:extLst>
              <a:ext uri="{FF2B5EF4-FFF2-40B4-BE49-F238E27FC236}">
                <a16:creationId xmlns:a16="http://schemas.microsoft.com/office/drawing/2014/main" id="{E5079B04-B06C-1B81-E676-1237335E8B28}"/>
              </a:ext>
            </a:extLst>
          </p:cNvPr>
          <p:cNvSpPr/>
          <p:nvPr/>
        </p:nvSpPr>
        <p:spPr>
          <a:xfrm>
            <a:off x="7907239" y="4952008"/>
            <a:ext cx="19050" cy="1217513"/>
          </a:xfrm>
          <a:prstGeom prst="roundRect">
            <a:avLst>
              <a:gd name="adj" fmla="val 49999"/>
            </a:avLst>
          </a:prstGeom>
          <a:solidFill>
            <a:srgbClr val="5C5C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4">
            <a:extLst>
              <a:ext uri="{FF2B5EF4-FFF2-40B4-BE49-F238E27FC236}">
                <a16:creationId xmlns:a16="http://schemas.microsoft.com/office/drawing/2014/main" id="{EC1B301B-4814-1A1E-67E8-3BA5B1ECBDE6}"/>
              </a:ext>
            </a:extLst>
          </p:cNvPr>
          <p:cNvSpPr/>
          <p:nvPr/>
        </p:nvSpPr>
        <p:spPr>
          <a:xfrm>
            <a:off x="8072533" y="5117306"/>
            <a:ext cx="3292293" cy="25846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P-06 y P-07</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5">
            <a:extLst>
              <a:ext uri="{FF2B5EF4-FFF2-40B4-BE49-F238E27FC236}">
                <a16:creationId xmlns:a16="http://schemas.microsoft.com/office/drawing/2014/main" id="{1C318BF0-5FF5-A8DC-AA9F-7E01D952B2B0}"/>
              </a:ext>
            </a:extLst>
          </p:cNvPr>
          <p:cNvSpPr/>
          <p:nvPr/>
        </p:nvSpPr>
        <p:spPr>
          <a:xfrm>
            <a:off x="8072533" y="5474990"/>
            <a:ext cx="3292293" cy="529233"/>
          </a:xfrm>
          <a:prstGeom prst="rect">
            <a:avLst/>
          </a:prstGeom>
          <a:noFill/>
          <a:ln/>
        </p:spPr>
        <p:txBody>
          <a:bodyPr wrap="square" lIns="0" tIns="0" rIns="0" bIns="0" rtlCol="0" anchor="t">
            <a:normAutofit fontScale="85000" lnSpcReduction="10000"/>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C7CDD6"/>
                </a:solidFill>
                <a:effectLst/>
                <a:uLnTx/>
                <a:uFillTx/>
                <a:latin typeface="Inter" pitchFamily="34" charset="0"/>
                <a:ea typeface="Inter" pitchFamily="34" charset="-122"/>
                <a:cs typeface="Inter" pitchFamily="34" charset="-120"/>
              </a:rPr>
              <a:t>Resumen</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a:t>
            </a:r>
            <a:r>
              <a:rPr kumimoji="0" lang="en-US" sz="1300" b="0" i="0" u="none" strike="noStrike" kern="1200" cap="none" spc="0" normalizeH="0" baseline="0" noProof="0" dirty="0" err="1">
                <a:ln>
                  <a:noFill/>
                </a:ln>
                <a:solidFill>
                  <a:srgbClr val="C7CDD6"/>
                </a:solidFill>
                <a:effectLst/>
                <a:uLnTx/>
                <a:uFillTx/>
                <a:latin typeface="Inter" pitchFamily="34" charset="0"/>
                <a:ea typeface="Inter" pitchFamily="34" charset="-122"/>
                <a:cs typeface="Inter" pitchFamily="34" charset="-120"/>
              </a:rPr>
              <a:t>Inventario</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y </a:t>
            </a:r>
            <a:r>
              <a:rPr kumimoji="0" lang="en-US" sz="1300" b="0" i="0" u="none" strike="noStrike" kern="1200" cap="none" spc="0" normalizeH="0" baseline="0" noProof="0" dirty="0" err="1">
                <a:ln>
                  <a:noFill/>
                </a:ln>
                <a:solidFill>
                  <a:srgbClr val="C7CDD6"/>
                </a:solidFill>
                <a:effectLst/>
                <a:uLnTx/>
                <a:uFillTx/>
                <a:latin typeface="Inter" pitchFamily="34" charset="0"/>
                <a:ea typeface="Inter" pitchFamily="34" charset="-122"/>
                <a:cs typeface="Inter" pitchFamily="34" charset="-120"/>
              </a:rPr>
              <a:t>Enviar</a:t>
            </a:r>
            <a:r>
              <a:rPr kumimoji="0" lang="en-US" sz="13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Inventario — Cierre del flujo con simulación de notificaciones.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4" name="Imagen 23">
            <a:extLst>
              <a:ext uri="{FF2B5EF4-FFF2-40B4-BE49-F238E27FC236}">
                <a16:creationId xmlns:a16="http://schemas.microsoft.com/office/drawing/2014/main" id="{9BC4643F-A693-04B5-A3F8-5348F0F354D6}"/>
              </a:ext>
            </a:extLst>
          </p:cNvPr>
          <p:cNvPicPr>
            <a:picLocks noChangeAspect="1"/>
          </p:cNvPicPr>
          <p:nvPr/>
        </p:nvPicPr>
        <p:blipFill>
          <a:blip r:embed="rId3"/>
          <a:stretch>
            <a:fillRect/>
          </a:stretch>
        </p:blipFill>
        <p:spPr>
          <a:xfrm flipH="1">
            <a:off x="1399098" y="2342669"/>
            <a:ext cx="1102723" cy="4430684"/>
          </a:xfrm>
          <a:prstGeom prst="rect">
            <a:avLst/>
          </a:prstGeom>
        </p:spPr>
      </p:pic>
      <p:pic>
        <p:nvPicPr>
          <p:cNvPr id="26" name="Imagen 25">
            <a:extLst>
              <a:ext uri="{FF2B5EF4-FFF2-40B4-BE49-F238E27FC236}">
                <a16:creationId xmlns:a16="http://schemas.microsoft.com/office/drawing/2014/main" id="{CCD2409A-4AE0-7D37-B679-5FB7F12F960A}"/>
              </a:ext>
            </a:extLst>
          </p:cNvPr>
          <p:cNvPicPr>
            <a:picLocks noChangeAspect="1"/>
          </p:cNvPicPr>
          <p:nvPr/>
        </p:nvPicPr>
        <p:blipFill>
          <a:blip r:embed="rId4"/>
          <a:stretch>
            <a:fillRect/>
          </a:stretch>
        </p:blipFill>
        <p:spPr>
          <a:xfrm>
            <a:off x="4042249" y="2299990"/>
            <a:ext cx="1680891" cy="4430684"/>
          </a:xfrm>
          <a:prstGeom prst="rect">
            <a:avLst/>
          </a:prstGeom>
        </p:spPr>
      </p:pic>
      <p:sp>
        <p:nvSpPr>
          <p:cNvPr id="28" name="TextBox 5">
            <a:extLst>
              <a:ext uri="{FF2B5EF4-FFF2-40B4-BE49-F238E27FC236}">
                <a16:creationId xmlns:a16="http://schemas.microsoft.com/office/drawing/2014/main" id="{4A076550-110C-CEFA-F199-E88769DC70F5}"/>
              </a:ext>
            </a:extLst>
          </p:cNvPr>
          <p:cNvSpPr txBox="1"/>
          <p:nvPr/>
        </p:nvSpPr>
        <p:spPr>
          <a:xfrm>
            <a:off x="6409481" y="2757448"/>
            <a:ext cx="5120640" cy="4389120"/>
          </a:xfrm>
          <a:prstGeom prst="rect">
            <a:avLst/>
          </a:prstGeom>
          <a:noFill/>
        </p:spPr>
        <p:txBody>
          <a:bodyPr wrap="square">
            <a:spAutoFit/>
          </a:bodyPr>
          <a:lstStyle/>
          <a:p>
            <a:pPr>
              <a:defRPr sz="1100">
                <a:solidFill>
                  <a:srgbClr val="286E28"/>
                </a:solidFill>
                <a:latin typeface="Courier New"/>
              </a:defRPr>
            </a:pPr>
            <a:r>
              <a:rPr dirty="0"/>
              <a:t>// Identidad visual </a:t>
            </a:r>
            <a:r>
              <a:rPr dirty="0" err="1"/>
              <a:t>implementada</a:t>
            </a:r>
            <a:r>
              <a:rPr dirty="0"/>
              <a:t> a lo largo del </a:t>
            </a:r>
            <a:r>
              <a:rPr dirty="0" err="1"/>
              <a:t>prototipo</a:t>
            </a:r>
            <a:br>
              <a:rPr dirty="0"/>
            </a:br>
            <a:r>
              <a:rPr dirty="0" err="1"/>
              <a:t>appBar</a:t>
            </a:r>
            <a:r>
              <a:rPr dirty="0"/>
              <a:t>: </a:t>
            </a:r>
            <a:r>
              <a:rPr dirty="0" err="1"/>
              <a:t>AppBar</a:t>
            </a:r>
            <a:r>
              <a:rPr dirty="0"/>
              <a:t>(</a:t>
            </a:r>
            <a:br>
              <a:rPr dirty="0"/>
            </a:br>
            <a:r>
              <a:rPr dirty="0"/>
              <a:t>  title: const Text('</a:t>
            </a:r>
            <a:r>
              <a:rPr dirty="0" err="1"/>
              <a:t>Arrendamientos</a:t>
            </a:r>
            <a:r>
              <a:rPr dirty="0"/>
              <a:t> </a:t>
            </a:r>
            <a:r>
              <a:rPr dirty="0" err="1"/>
              <a:t>Butaquito</a:t>
            </a:r>
            <a:r>
              <a:rPr dirty="0"/>
              <a:t>'),</a:t>
            </a:r>
            <a:br>
              <a:rPr dirty="0"/>
            </a:br>
            <a:r>
              <a:rPr dirty="0"/>
              <a:t>  </a:t>
            </a:r>
            <a:r>
              <a:rPr dirty="0" err="1"/>
              <a:t>backgroundColor</a:t>
            </a:r>
            <a:r>
              <a:rPr dirty="0"/>
              <a:t>: const </a:t>
            </a:r>
            <a:r>
              <a:rPr dirty="0" err="1"/>
              <a:t>Color.fromARGB</a:t>
            </a:r>
            <a:r>
              <a:rPr dirty="0"/>
              <a:t>(255, 2, 0, 95),</a:t>
            </a:r>
            <a:br>
              <a:rPr dirty="0"/>
            </a:br>
            <a:r>
              <a:rPr dirty="0"/>
              <a:t>  </a:t>
            </a:r>
            <a:r>
              <a:rPr dirty="0" err="1"/>
              <a:t>foregroundColor</a:t>
            </a:r>
            <a:r>
              <a:rPr dirty="0"/>
              <a:t>: </a:t>
            </a:r>
            <a:r>
              <a:rPr dirty="0" err="1"/>
              <a:t>Colors.white</a:t>
            </a:r>
            <a:r>
              <a:rPr dirty="0"/>
              <a:t>,</a:t>
            </a:r>
            <a:br>
              <a:rPr dirty="0"/>
            </a:br>
            <a:r>
              <a:rPr dirty="0"/>
              <a:t>),</a:t>
            </a:r>
          </a:p>
        </p:txBody>
      </p:sp>
    </p:spTree>
    <p:extLst>
      <p:ext uri="{BB962C8B-B14F-4D97-AF65-F5344CB8AC3E}">
        <p14:creationId xmlns:p14="http://schemas.microsoft.com/office/powerpoint/2010/main" val="1594445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472480"/>
            <a:ext cx="1901777" cy="204192"/>
          </a:xfrm>
          <a:prstGeom prst="roundRect">
            <a:avLst>
              <a:gd name="adj" fmla="val 7897"/>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42038" y="512763"/>
            <a:ext cx="2350235" cy="123627"/>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REQUERIMIENTOS FUNCIONALES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720328"/>
            <a:ext cx="10868745" cy="41989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Historias de Usuario y Casos de Uso</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1303933"/>
            <a:ext cx="10868745" cy="58429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Los casos de uso principales han sido implementados para cubrir el ciclo completo de gestión de inventarios inmobiliarios. Cada caso de uso representa una funcionalidad crítica del sistema, desde la creación inicial del registro hasta el envío del reporte al destinatario final. Las restricciones del proyecto limitan el desarrollo a plataformas móviles Android e iOS bajo el entorno de ejecución de Flutter y Dart.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011065"/>
            <a:ext cx="5379804" cy="1739205"/>
          </a:xfrm>
          <a:prstGeom prst="rect">
            <a:avLst/>
          </a:prstGeom>
        </p:spPr>
      </p:pic>
      <p:sp>
        <p:nvSpPr>
          <p:cNvPr id="7" name="Text 4"/>
          <p:cNvSpPr/>
          <p:nvPr/>
        </p:nvSpPr>
        <p:spPr>
          <a:xfrm>
            <a:off x="3250623" y="2105720"/>
            <a:ext cx="201508" cy="251916"/>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1</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814863" y="2542381"/>
            <a:ext cx="5073027" cy="20994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CU-01: Crear Inventario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814863" y="2817812"/>
            <a:ext cx="5073027" cy="77906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Flujo activado desde la lista de inmuebles que inicializa el proceso de inspección vinculando el código único del inmueble. Este caso de uso es el punto de entrada para todo nuevo registro y establece la base de datos que se completará en las etapas posteriores del flujo.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0416" y="2011065"/>
            <a:ext cx="5379804" cy="1739205"/>
          </a:xfrm>
          <a:prstGeom prst="rect">
            <a:avLst/>
          </a:prstGeom>
        </p:spPr>
      </p:pic>
      <p:sp>
        <p:nvSpPr>
          <p:cNvPr id="11" name="Text 7"/>
          <p:cNvSpPr/>
          <p:nvPr/>
        </p:nvSpPr>
        <p:spPr>
          <a:xfrm>
            <a:off x="8739564" y="2105720"/>
            <a:ext cx="201508" cy="251916"/>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2</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6303805" y="2542381"/>
            <a:ext cx="5073027" cy="20994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CU-02 y CU-03: Registros por Zonas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6303805" y="2817812"/>
            <a:ext cx="5073027" cy="77906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Gestión operativa en el formulario segmentado por zonas (Paredes, Cocina, Sala) para almacenar estados y observaciones de cada área evaluada. Permite al inventarista documentar de manera estructurada las condiciones específicas de cada zona del inmueble inspeccionado.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859411"/>
            <a:ext cx="5379804" cy="1739205"/>
          </a:xfrm>
          <a:prstGeom prst="rect">
            <a:avLst/>
          </a:prstGeom>
        </p:spPr>
      </p:pic>
      <p:sp>
        <p:nvSpPr>
          <p:cNvPr id="15" name="Text 10"/>
          <p:cNvSpPr/>
          <p:nvPr/>
        </p:nvSpPr>
        <p:spPr>
          <a:xfrm>
            <a:off x="3250623" y="3954066"/>
            <a:ext cx="201508" cy="251916"/>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3</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1"/>
          <p:cNvSpPr/>
          <p:nvPr/>
        </p:nvSpPr>
        <p:spPr>
          <a:xfrm>
            <a:off x="814863" y="4390727"/>
            <a:ext cx="5073027" cy="20994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CU-05: Guardar Borrador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2"/>
          <p:cNvSpPr/>
          <p:nvPr/>
        </p:nvSpPr>
        <p:spPr>
          <a:xfrm>
            <a:off x="814863" y="4666159"/>
            <a:ext cx="5073027" cy="77906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Persistencia de datos en el hilo de ejecución de la interfaz gráfica antes del cierre del flujo. Esta funcionalidad permite al inventarista pausar y retomar el proceso de captura sin perder la información ingresada, garantizando la continuidad del trabajo en campo.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0416" y="3859411"/>
            <a:ext cx="5379804" cy="1739205"/>
          </a:xfrm>
          <a:prstGeom prst="rect">
            <a:avLst/>
          </a:prstGeom>
        </p:spPr>
      </p:pic>
      <p:sp>
        <p:nvSpPr>
          <p:cNvPr id="19" name="Text 13"/>
          <p:cNvSpPr/>
          <p:nvPr/>
        </p:nvSpPr>
        <p:spPr>
          <a:xfrm>
            <a:off x="8739564" y="3954066"/>
            <a:ext cx="201508" cy="251916"/>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4</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4"/>
          <p:cNvSpPr/>
          <p:nvPr/>
        </p:nvSpPr>
        <p:spPr>
          <a:xfrm>
            <a:off x="6303805" y="4390727"/>
            <a:ext cx="5073027" cy="20994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CU-08: Enviar Inventario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5"/>
          <p:cNvSpPr/>
          <p:nvPr/>
        </p:nvSpPr>
        <p:spPr>
          <a:xfrm>
            <a:off x="6303805" y="4666159"/>
            <a:ext cx="5073027" cy="77906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Selección del perfil del destinatario final (</a:t>
            </a:r>
            <a:r>
              <a:rPr kumimoji="0" lang="en-US" sz="105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Inquilino / Propietario / Asesor</a:t>
            </a:r>
            <a:r>
              <a:rPr kumimoji="0" lang="en-US" sz="105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para el direccionamiento correcto del reporte generado. Este caso de uso cierra el ciclo operativo y asegura que la información llegue a la persona correspondiente de manera trazable.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6"/>
          <p:cNvSpPr/>
          <p:nvPr/>
        </p:nvSpPr>
        <p:spPr>
          <a:xfrm>
            <a:off x="661475" y="5721449"/>
            <a:ext cx="10868745" cy="663972"/>
          </a:xfrm>
          <a:prstGeom prst="roundRect">
            <a:avLst>
              <a:gd name="adj" fmla="val 3036"/>
            </a:avLst>
          </a:prstGeom>
          <a:solidFill>
            <a:srgbClr val="02234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4" descr="preencoded.png"/>
          <p:cNvPicPr>
            <a:picLocks noChangeAspect="1"/>
          </p:cNvPicPr>
          <p:nvPr/>
        </p:nvPicPr>
        <p:blipFill>
          <a:blip r:embed="rId4"/>
          <a:stretch>
            <a:fillRect/>
          </a:stretch>
        </p:blipFill>
        <p:spPr>
          <a:xfrm>
            <a:off x="795814" y="5879902"/>
            <a:ext cx="167973" cy="134342"/>
          </a:xfrm>
          <a:prstGeom prst="rect">
            <a:avLst/>
          </a:prstGeom>
        </p:spPr>
      </p:pic>
      <p:sp>
        <p:nvSpPr>
          <p:cNvPr id="24" name="Text 17"/>
          <p:cNvSpPr/>
          <p:nvPr/>
        </p:nvSpPr>
        <p:spPr>
          <a:xfrm>
            <a:off x="1098126" y="5864126"/>
            <a:ext cx="10297756" cy="389533"/>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2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Noto Color Emoji" pitchFamily="34" charset="0"/>
                <a:ea typeface="Noto Color Emoji" pitchFamily="34" charset="-122"/>
                <a:cs typeface="Noto Color Emoji" pitchFamily="34" charset="-120"/>
              </a:rPr>
              <a:t>⚙️</a:t>
            </a:r>
            <a:r>
              <a:rPr kumimoji="0" lang="en-US" sz="10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a:t>
            </a:r>
            <a:r>
              <a:rPr kumimoji="0" lang="en-US" sz="105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Restricción del Proyecto:</a:t>
            </a:r>
            <a:r>
              <a:rPr kumimoji="0" lang="en-US" sz="10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Desarrollo móvil exclusivo para plataformas </a:t>
            </a:r>
            <a:r>
              <a:rPr kumimoji="0" lang="en-US" sz="105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Android e iOS</a:t>
            </a:r>
            <a:r>
              <a:rPr kumimoji="0" lang="en-US" sz="10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bajo el entorno de ejecución de </a:t>
            </a:r>
            <a:r>
              <a:rPr kumimoji="0" lang="en-US" sz="105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Flutter y Dart</a:t>
            </a:r>
            <a:r>
              <a:rPr kumimoji="0" lang="en-US" sz="10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No se contemplan versiones web ni de escritorio en la versión 1.0 del prototipo.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C014-6D11-9B44-A5FD-D83B39E95A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C49D49-B85B-8FD3-D70B-FF0A02892729}"/>
              </a:ext>
            </a:extLst>
          </p:cNvPr>
          <p:cNvSpPr/>
          <p:nvPr/>
        </p:nvSpPr>
        <p:spPr>
          <a:xfrm>
            <a:off x="661475" y="472480"/>
            <a:ext cx="1901777" cy="204192"/>
          </a:xfrm>
          <a:prstGeom prst="roundRect">
            <a:avLst>
              <a:gd name="adj" fmla="val 7897"/>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3917792-4159-9851-2C6D-E510B2025F96}"/>
              </a:ext>
            </a:extLst>
          </p:cNvPr>
          <p:cNvSpPr/>
          <p:nvPr/>
        </p:nvSpPr>
        <p:spPr>
          <a:xfrm>
            <a:off x="742038" y="512763"/>
            <a:ext cx="2350235" cy="123627"/>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REQUERIMIENTOS FUNCIONALES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EBACDA38-48F7-602C-545D-FF6994178246}"/>
              </a:ext>
            </a:extLst>
          </p:cNvPr>
          <p:cNvSpPr/>
          <p:nvPr/>
        </p:nvSpPr>
        <p:spPr>
          <a:xfrm>
            <a:off x="661475" y="720328"/>
            <a:ext cx="10868745" cy="41989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Historias de Usuario y Casos de Uso</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Box 5">
            <a:extLst>
              <a:ext uri="{FF2B5EF4-FFF2-40B4-BE49-F238E27FC236}">
                <a16:creationId xmlns:a16="http://schemas.microsoft.com/office/drawing/2014/main" id="{31D5C3B0-9EAB-09BC-0AA4-C4A8203EC5CA}"/>
              </a:ext>
            </a:extLst>
          </p:cNvPr>
          <p:cNvSpPr txBox="1"/>
          <p:nvPr/>
        </p:nvSpPr>
        <p:spPr>
          <a:xfrm>
            <a:off x="975207" y="1521229"/>
            <a:ext cx="5120640" cy="4389120"/>
          </a:xfrm>
          <a:prstGeom prst="rect">
            <a:avLst/>
          </a:prstGeom>
          <a:noFill/>
        </p:spPr>
        <p:txBody>
          <a:bodyPr wrap="square">
            <a:spAutoFit/>
          </a:bodyPr>
          <a:lstStyle/>
          <a:p>
            <a:pPr>
              <a:defRPr sz="1100">
                <a:solidFill>
                  <a:srgbClr val="286E28"/>
                </a:solidFill>
                <a:latin typeface="Courier New"/>
              </a:defRPr>
            </a:pPr>
            <a:r>
              <a:rPr dirty="0"/>
              <a:t>// Flujo </a:t>
            </a:r>
            <a:r>
              <a:rPr dirty="0" err="1"/>
              <a:t>lógico</a:t>
            </a:r>
            <a:r>
              <a:rPr dirty="0"/>
              <a:t> de control y paso </a:t>
            </a:r>
            <a:r>
              <a:rPr dirty="0" err="1"/>
              <a:t>dinámico</a:t>
            </a:r>
            <a:r>
              <a:rPr dirty="0"/>
              <a:t> en </a:t>
            </a:r>
            <a:r>
              <a:rPr dirty="0" err="1"/>
              <a:t>detalle_inmueble.dart</a:t>
            </a:r>
            <a:br>
              <a:rPr dirty="0"/>
            </a:br>
            <a:r>
              <a:rPr dirty="0"/>
              <a:t>Text(</a:t>
            </a:r>
            <a:br>
              <a:rPr dirty="0"/>
            </a:br>
            <a:r>
              <a:rPr dirty="0"/>
              <a:t>  </a:t>
            </a:r>
            <a:r>
              <a:rPr dirty="0" err="1"/>
              <a:t>codigo.isNotEmpty</a:t>
            </a:r>
            <a:r>
              <a:rPr dirty="0"/>
              <a:t> ? </a:t>
            </a:r>
            <a:r>
              <a:rPr dirty="0" err="1"/>
              <a:t>codigo</a:t>
            </a:r>
            <a:r>
              <a:rPr dirty="0"/>
              <a:t> : 'Sin </a:t>
            </a:r>
            <a:r>
              <a:rPr dirty="0" err="1"/>
              <a:t>código</a:t>
            </a:r>
            <a:r>
              <a:rPr dirty="0"/>
              <a:t>',</a:t>
            </a:r>
            <a:br>
              <a:rPr dirty="0"/>
            </a:br>
            <a:r>
              <a:rPr dirty="0"/>
              <a:t>  style: const </a:t>
            </a:r>
            <a:r>
              <a:rPr dirty="0" err="1"/>
              <a:t>TextStyle</a:t>
            </a:r>
            <a:r>
              <a:rPr dirty="0"/>
              <a:t>(</a:t>
            </a:r>
            <a:r>
              <a:rPr dirty="0" err="1"/>
              <a:t>fontSize</a:t>
            </a:r>
            <a:r>
              <a:rPr dirty="0"/>
              <a:t>: 28, </a:t>
            </a:r>
            <a:r>
              <a:rPr dirty="0" err="1"/>
              <a:t>fontWeight</a:t>
            </a:r>
            <a:r>
              <a:rPr dirty="0"/>
              <a:t>: </a:t>
            </a:r>
            <a:r>
              <a:rPr dirty="0" err="1"/>
              <a:t>FontWeight.bold</a:t>
            </a:r>
            <a:r>
              <a:rPr dirty="0"/>
              <a:t>),</a:t>
            </a:r>
            <a:br>
              <a:rPr dirty="0"/>
            </a:br>
            <a:r>
              <a:rPr dirty="0"/>
              <a:t>),</a:t>
            </a:r>
            <a:br>
              <a:rPr dirty="0"/>
            </a:br>
            <a:r>
              <a:rPr dirty="0" err="1"/>
              <a:t>elevatedButton</a:t>
            </a:r>
            <a:r>
              <a:rPr dirty="0"/>
              <a:t>(</a:t>
            </a:r>
            <a:br>
              <a:rPr dirty="0"/>
            </a:br>
            <a:r>
              <a:rPr dirty="0"/>
              <a:t>  </a:t>
            </a:r>
            <a:r>
              <a:rPr dirty="0" err="1"/>
              <a:t>onPressed</a:t>
            </a:r>
            <a:r>
              <a:rPr dirty="0"/>
              <a:t>: () {</a:t>
            </a:r>
            <a:br>
              <a:rPr dirty="0"/>
            </a:br>
            <a:r>
              <a:rPr dirty="0"/>
              <a:t>    </a:t>
            </a:r>
            <a:r>
              <a:rPr dirty="0" err="1"/>
              <a:t>Navigator.push</a:t>
            </a:r>
            <a:r>
              <a:rPr dirty="0"/>
              <a:t>(</a:t>
            </a:r>
            <a:br>
              <a:rPr dirty="0"/>
            </a:br>
            <a:r>
              <a:rPr dirty="0"/>
              <a:t>      context,</a:t>
            </a:r>
            <a:br>
              <a:rPr dirty="0"/>
            </a:br>
            <a:r>
              <a:rPr dirty="0"/>
              <a:t>      </a:t>
            </a:r>
            <a:r>
              <a:rPr dirty="0" err="1"/>
              <a:t>MaterialPageRoute</a:t>
            </a:r>
            <a:r>
              <a:rPr dirty="0"/>
              <a:t>(</a:t>
            </a:r>
            <a:br>
              <a:rPr dirty="0"/>
            </a:br>
            <a:r>
              <a:rPr dirty="0"/>
              <a:t>        builder: (context) =&gt; </a:t>
            </a:r>
            <a:r>
              <a:rPr dirty="0" err="1"/>
              <a:t>EnviarInventario</a:t>
            </a:r>
            <a:r>
              <a:rPr dirty="0"/>
              <a:t>(</a:t>
            </a:r>
            <a:r>
              <a:rPr dirty="0" err="1"/>
              <a:t>codigoInmueble</a:t>
            </a:r>
            <a:r>
              <a:rPr dirty="0"/>
              <a:t>: </a:t>
            </a:r>
            <a:r>
              <a:rPr dirty="0" err="1"/>
              <a:t>codigo</a:t>
            </a:r>
            <a:r>
              <a:rPr dirty="0"/>
              <a:t>),</a:t>
            </a:r>
            <a:br>
              <a:rPr dirty="0"/>
            </a:br>
            <a:r>
              <a:rPr dirty="0"/>
              <a:t>      ),</a:t>
            </a:r>
            <a:br>
              <a:rPr dirty="0"/>
            </a:br>
            <a:r>
              <a:rPr dirty="0"/>
              <a:t>    );</a:t>
            </a:r>
            <a:br>
              <a:rPr dirty="0"/>
            </a:br>
            <a:r>
              <a:rPr dirty="0"/>
              <a:t>  },</a:t>
            </a:r>
            <a:br>
              <a:rPr dirty="0"/>
            </a:br>
            <a:r>
              <a:rPr dirty="0"/>
              <a:t>)</a:t>
            </a:r>
          </a:p>
        </p:txBody>
      </p:sp>
    </p:spTree>
    <p:extLst>
      <p:ext uri="{BB962C8B-B14F-4D97-AF65-F5344CB8AC3E}">
        <p14:creationId xmlns:p14="http://schemas.microsoft.com/office/powerpoint/2010/main" val="3907456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96305"/>
            <a:ext cx="1288422" cy="176609"/>
          </a:xfrm>
          <a:prstGeom prst="roundRect">
            <a:avLst>
              <a:gd name="adj" fmla="val 7902"/>
            </a:avLst>
          </a:prstGeom>
          <a:noFill/>
          <a:ln w="6350">
            <a:solidFill>
              <a:srgbClr val="FDC4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31224" y="631130"/>
            <a:ext cx="1758509" cy="106958"/>
          </a:xfrm>
          <a:prstGeom prst="rect">
            <a:avLst/>
          </a:prstGeom>
          <a:noFill/>
          <a:ln/>
        </p:spPr>
        <p:txBody>
          <a:bodyPr wrap="none" lIns="0" tIns="0" rIns="0" bIns="0" rtlCol="0" anchor="t"/>
          <a:lstStyle/>
          <a:p>
            <a:pPr marL="0" marR="0" lvl="0" indent="0" algn="l" defTabSz="914400" rtl="0" eaLnBrk="1" fontAlgn="auto" latinLnBrk="0" hangingPunct="1">
              <a:lnSpc>
                <a:spcPct val="96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DC4C4"/>
                </a:solidFill>
                <a:effectLst/>
                <a:uLnTx/>
                <a:uFillTx/>
                <a:latin typeface="Inter" pitchFamily="34" charset="0"/>
                <a:ea typeface="Inter" pitchFamily="34" charset="-122"/>
                <a:cs typeface="Inter" pitchFamily="34" charset="-120"/>
              </a:rPr>
              <a:t>CONTROL DE VERSIONES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1475" y="805557"/>
            <a:ext cx="10868745" cy="363339"/>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25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Historial de Cambios y Control de Calidad</a:t>
            </a:r>
            <a:endParaRPr kumimoji="0" lang="en-US" sz="2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1475" y="1291530"/>
            <a:ext cx="10868745" cy="31670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El proyecto mantiene un registro estructurado de su evolución desde la línea base fundacional. La versión 1.0 consolida la lógica de negocio, los requerimientos técnicos, las historias de usuario y la maquetación de vistas en un documento único que sirve como referencia para el equipo de desarrollo y los evaluadores del proyecto.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1475" y="1781969"/>
            <a:ext cx="5292593" cy="18167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FD5FA"/>
                </a:solidFill>
                <a:effectLst/>
                <a:uLnTx/>
                <a:uFillTx/>
                <a:latin typeface="Instrument Sans Medium" pitchFamily="34" charset="0"/>
                <a:ea typeface="Instrument Sans Medium" pitchFamily="34" charset="-122"/>
                <a:cs typeface="Instrument Sans Medium" pitchFamily="34" charset="-120"/>
              </a:rPr>
              <a:t>Línea Base del Proyecto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3301421" y="2055614"/>
            <a:ext cx="12700" cy="3485555"/>
          </a:xfrm>
          <a:prstGeom prst="roundRect">
            <a:avLst>
              <a:gd name="adj" fmla="val 49999"/>
            </a:avLst>
          </a:prstGeom>
          <a:solidFill>
            <a:srgbClr val="5C5C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2840810" y="2180034"/>
            <a:ext cx="348844" cy="12700"/>
          </a:xfrm>
          <a:prstGeom prst="roundRect">
            <a:avLst>
              <a:gd name="adj" fmla="val 49999"/>
            </a:avLst>
          </a:prstGeom>
          <a:solidFill>
            <a:srgbClr val="5C5C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3176955" y="2055614"/>
            <a:ext cx="261633" cy="261640"/>
          </a:xfrm>
          <a:prstGeom prst="roundRect">
            <a:avLst>
              <a:gd name="adj" fmla="val 6667"/>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220510" y="2077393"/>
            <a:ext cx="174422" cy="217984"/>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1</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61475" y="2095500"/>
            <a:ext cx="2064889" cy="363339"/>
          </a:xfrm>
          <a:prstGeom prst="rect">
            <a:avLst/>
          </a:prstGeom>
          <a:noFill/>
          <a:ln/>
        </p:spPr>
        <p:txBody>
          <a:bodyPr wrap="square" lIns="0" tIns="0" rIns="0" bIns="0" rtlCol="0" anchor="t">
            <a:normAutofit/>
          </a:bodyPr>
          <a:lstStyle/>
          <a:p>
            <a:pPr marL="0" marR="0" lvl="0" indent="0" algn="r"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Versión 1.0 — Documento Fundacional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61475" y="2540595"/>
            <a:ext cx="2064889" cy="1266825"/>
          </a:xfrm>
          <a:prstGeom prst="rect">
            <a:avLst/>
          </a:prstGeom>
          <a:noFill/>
          <a:ln/>
        </p:spPr>
        <p:txBody>
          <a:bodyPr wrap="square" lIns="0" tIns="0" rIns="0" bIns="0" rtlCol="0" anchor="t">
            <a:normAutofit/>
          </a:bodyPr>
          <a:lstStyle/>
          <a:p>
            <a:pPr marL="0" marR="0" lvl="0" indent="0" algn="r"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Consolida la lógica de negocio, requerimientos técnicos, historias de usuario y maquetación de vistas. Representa el punto de partida oficial del proyecto y establece los estándares de calidad y funcionalidad que deben cumplirse en el prototipo.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3425888" y="2808684"/>
            <a:ext cx="348844" cy="12700"/>
          </a:xfrm>
          <a:prstGeom prst="roundRect">
            <a:avLst>
              <a:gd name="adj" fmla="val 49999"/>
            </a:avLst>
          </a:prstGeom>
          <a:solidFill>
            <a:srgbClr val="5C5C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3176955" y="2684264"/>
            <a:ext cx="261633" cy="261640"/>
          </a:xfrm>
          <a:prstGeom prst="roundRect">
            <a:avLst>
              <a:gd name="adj" fmla="val 6667"/>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220510" y="2706043"/>
            <a:ext cx="174422" cy="217984"/>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2</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889178" y="2724150"/>
            <a:ext cx="2064889" cy="18167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Referencias de Desarrollo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889178" y="2987576"/>
            <a:ext cx="2064889" cy="1266825"/>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El desarrollo se apoya en las guías y documentación oficial del framework multiplataforma (</a:t>
            </a:r>
            <a:r>
              <a:rPr kumimoji="0" lang="en-US" sz="9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flutter.dev</a:t>
            </a:r>
            <a:r>
              <a:rPr kumimoji="0" lang="en-US" sz="9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y los estándares de sintaxis del lenguaje orientado a objetos Dart (</a:t>
            </a:r>
            <a:r>
              <a:rPr kumimoji="0" lang="en-US" sz="900" b="1" i="0" u="none" strike="noStrike" kern="1200" cap="none" spc="0" normalizeH="0" baseline="0" noProof="0" dirty="0">
                <a:ln>
                  <a:noFill/>
                </a:ln>
                <a:solidFill>
                  <a:srgbClr val="C7CDD6"/>
                </a:solidFill>
                <a:effectLst/>
                <a:uLnTx/>
                <a:uFillTx/>
                <a:latin typeface="Inter Bold" pitchFamily="34" charset="0"/>
                <a:ea typeface="Inter Bold" pitchFamily="34" charset="-122"/>
                <a:cs typeface="Inter Bold" pitchFamily="34" charset="-120"/>
              </a:rPr>
              <a:t>dart.dev</a:t>
            </a:r>
            <a:r>
              <a:rPr kumimoji="0" lang="en-US" sz="9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 Estas fuentes garantizan que la implementación siga las mejores prácticas del ecosistema Flutter.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2840810" y="4095353"/>
            <a:ext cx="348844" cy="12700"/>
          </a:xfrm>
          <a:prstGeom prst="roundRect">
            <a:avLst>
              <a:gd name="adj" fmla="val 49999"/>
            </a:avLst>
          </a:prstGeom>
          <a:solidFill>
            <a:srgbClr val="5C5C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3176955" y="3970933"/>
            <a:ext cx="261633" cy="261640"/>
          </a:xfrm>
          <a:prstGeom prst="roundRect">
            <a:avLst>
              <a:gd name="adj" fmla="val 6667"/>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3220510" y="3992711"/>
            <a:ext cx="174422" cy="217984"/>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3</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61475" y="4010819"/>
            <a:ext cx="2064889" cy="181670"/>
          </a:xfrm>
          <a:prstGeom prst="rect">
            <a:avLst/>
          </a:prstGeom>
          <a:noFill/>
          <a:ln/>
        </p:spPr>
        <p:txBody>
          <a:bodyPr wrap="none" lIns="0" tIns="0" rIns="0" bIns="0" rtlCol="0" anchor="t"/>
          <a:lstStyle/>
          <a:p>
            <a:pPr marL="0" marR="0" lvl="0" indent="0" algn="r"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7CDD6"/>
                </a:solidFill>
                <a:effectLst/>
                <a:uLnTx/>
                <a:uFillTx/>
                <a:latin typeface="Instrument Sans Medium" pitchFamily="34" charset="0"/>
                <a:ea typeface="Instrument Sans Medium" pitchFamily="34" charset="-122"/>
                <a:cs typeface="Instrument Sans Medium" pitchFamily="34" charset="-120"/>
              </a:rPr>
              <a:t>Declaración de Uso de IA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61475" y="4274245"/>
            <a:ext cx="2064889" cy="1266825"/>
          </a:xfrm>
          <a:prstGeom prst="rect">
            <a:avLst/>
          </a:prstGeom>
          <a:noFill/>
          <a:ln/>
        </p:spPr>
        <p:txBody>
          <a:bodyPr wrap="square" lIns="0" tIns="0" rIns="0" bIns="0" rtlCol="0" anchor="t">
            <a:normAutofit/>
          </a:bodyPr>
          <a:lstStyle/>
          <a:p>
            <a:pPr marL="0" marR="0" lvl="0" indent="0" algn="r"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7CDD6"/>
                </a:solidFill>
                <a:effectLst/>
                <a:uLnTx/>
                <a:uFillTx/>
                <a:latin typeface="Inter" pitchFamily="34" charset="0"/>
                <a:ea typeface="Inter" pitchFamily="34" charset="-122"/>
                <a:cs typeface="Inter" pitchFamily="34" charset="-120"/>
              </a:rPr>
              <a:t>Se utilizaron herramientas avanzadas de inteligencia artificial para la aceleración en el diseño visual de los mockups y el mapeo estructural de flujos, posteriormente validados por el equipo técnico. Este uso complementa el trabajo humano sin reemplazar la validación experta.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6160338" y="1700213"/>
            <a:ext cx="5459871" cy="3932932"/>
          </a:xfrm>
          <a:prstGeom prst="roundRect">
            <a:avLst>
              <a:gd name="adj" fmla="val 444"/>
            </a:avLst>
          </a:prstGeom>
          <a:solidFill>
            <a:srgbClr val="C8C7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6276620" y="1781969"/>
            <a:ext cx="5227308" cy="18167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Instrument Sans Medium" pitchFamily="34" charset="0"/>
                <a:ea typeface="Instrument Sans Medium" pitchFamily="34" charset="-122"/>
                <a:cs typeface="Instrument Sans Medium" pitchFamily="34" charset="-120"/>
              </a:rPr>
              <a:t>Resumen del Proyecto — v1.0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6276620" y="2045395"/>
            <a:ext cx="5227308" cy="47505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La aplicación de inventarios inmobiliarios en Flutter representa un prototipo funcional que cubre el ciclo completo de gestión de inspecciones en campo, desde el acceso inicial hasta el envío del reporte al destinatario final.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6276620" y="2612430"/>
            <a:ext cx="2572777" cy="812701"/>
          </a:xfrm>
          <a:prstGeom prst="roundRect">
            <a:avLst>
              <a:gd name="adj" fmla="val 2146"/>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6392901" y="2728714"/>
            <a:ext cx="2340214" cy="18167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Instrument Sans Medium" pitchFamily="34" charset="0"/>
                <a:ea typeface="Instrument Sans Medium" pitchFamily="34" charset="-122"/>
                <a:cs typeface="Instrument Sans Medium" pitchFamily="34" charset="-120"/>
              </a:rPr>
              <a:t>6 Pantallas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392901" y="2992140"/>
            <a:ext cx="2340214" cy="31670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Flujo de navegación secuencial implementado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8931151" y="2612430"/>
            <a:ext cx="2572777" cy="812701"/>
          </a:xfrm>
          <a:prstGeom prst="roundRect">
            <a:avLst>
              <a:gd name="adj" fmla="val 2146"/>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9047432" y="2728714"/>
            <a:ext cx="2340214" cy="18167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Instrument Sans Medium" pitchFamily="34" charset="0"/>
                <a:ea typeface="Instrument Sans Medium" pitchFamily="34" charset="-122"/>
                <a:cs typeface="Instrument Sans Medium" pitchFamily="34" charset="-120"/>
              </a:rPr>
              <a:t>4 Casos de Uso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9047432" y="2992140"/>
            <a:ext cx="2340214" cy="158353"/>
          </a:xfrm>
          <a:prstGeom prst="rect">
            <a:avLst/>
          </a:prstGeom>
          <a:noFill/>
          <a:ln/>
        </p:spPr>
        <p:txBody>
          <a:bodyPr wrap="none" lIns="0" tIns="0" rIns="0" bIns="0" rtlCol="0" anchor="t"/>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CU-01, CU-02/03, CU-05, CU-08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6276620" y="3506887"/>
            <a:ext cx="2572777" cy="654348"/>
          </a:xfrm>
          <a:prstGeom prst="roundRect">
            <a:avLst>
              <a:gd name="adj" fmla="val 2666"/>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6392901" y="3623171"/>
            <a:ext cx="2340214" cy="18167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Instrument Sans Medium" pitchFamily="34" charset="0"/>
                <a:ea typeface="Instrument Sans Medium" pitchFamily="34" charset="-122"/>
                <a:cs typeface="Instrument Sans Medium" pitchFamily="34" charset="-120"/>
              </a:rPr>
              <a:t>2 Plataformas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6392901" y="3886597"/>
            <a:ext cx="2340214" cy="158353"/>
          </a:xfrm>
          <a:prstGeom prst="rect">
            <a:avLst/>
          </a:prstGeom>
          <a:noFill/>
          <a:ln/>
        </p:spPr>
        <p:txBody>
          <a:bodyPr wrap="none" lIns="0" tIns="0" rIns="0" bIns="0" rtlCol="0" anchor="t"/>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Android e iOS con Flutter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8931151" y="3506887"/>
            <a:ext cx="2572777" cy="654348"/>
          </a:xfrm>
          <a:prstGeom prst="roundRect">
            <a:avLst>
              <a:gd name="adj" fmla="val 2666"/>
            </a:avLst>
          </a:prstGeom>
          <a:solidFill>
            <a:srgbClr val="4343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9047432" y="3623171"/>
            <a:ext cx="2340214" cy="18167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Instrument Sans Medium" pitchFamily="34" charset="0"/>
                <a:ea typeface="Instrument Sans Medium" pitchFamily="34" charset="-122"/>
                <a:cs typeface="Instrument Sans Medium" pitchFamily="34" charset="-120"/>
              </a:rPr>
              <a:t>3 Destinatarios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9047432" y="3886597"/>
            <a:ext cx="2340214" cy="158353"/>
          </a:xfrm>
          <a:prstGeom prst="rect">
            <a:avLst/>
          </a:prstGeom>
          <a:noFill/>
          <a:ln/>
        </p:spPr>
        <p:txBody>
          <a:bodyPr wrap="none" lIns="0" tIns="0" rIns="0" bIns="0" rtlCol="0" anchor="t"/>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Inquilino, Propietario, Asesor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6276620" y="4282281"/>
            <a:ext cx="5227308" cy="12700"/>
          </a:xfrm>
          <a:prstGeom prst="roundRect">
            <a:avLst>
              <a:gd name="adj" fmla="val 49999"/>
            </a:avLst>
          </a:prstGeom>
          <a:solidFill>
            <a:srgbClr val="000000">
              <a:alpha val="5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6276620" y="4416028"/>
            <a:ext cx="5227308" cy="181670"/>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Instrument Sans Medium" pitchFamily="34" charset="0"/>
                <a:ea typeface="Instrument Sans Medium" pitchFamily="34" charset="-122"/>
                <a:cs typeface="Instrument Sans Medium" pitchFamily="34" charset="-120"/>
              </a:rPr>
              <a:t>Próximos Pasos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6276620" y="4679454"/>
            <a:ext cx="5227308" cy="719138"/>
          </a:xfrm>
          <a:prstGeom prst="rect">
            <a:avLst/>
          </a:prstGeom>
          <a:noFill/>
          <a:ln/>
        </p:spPr>
        <p:txBody>
          <a:bodyPr wrap="square" lIns="0" tIns="0" rIns="0" bIns="0" rtlCol="0" anchor="t">
            <a:normAutofit/>
          </a:bodyPr>
          <a:lstStyle/>
          <a:p>
            <a:pPr marL="182880" marR="0" lvl="0" indent="-182880" algn="l" defTabSz="914400" rtl="0" eaLnBrk="1" fontAlgn="auto" latinLnBrk="0" hangingPunct="1">
              <a:lnSpc>
                <a:spcPct val="114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Integración de servicios en la nube para persistencia real de datos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2880" marR="0" lvl="0" indent="-182880" algn="l" defTabSz="914400" rtl="0" eaLnBrk="1" fontAlgn="auto" latinLnBrk="0" hangingPunct="1">
              <a:lnSpc>
                <a:spcPct val="114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Implementación de autenticación con backend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2880" marR="0" lvl="0" indent="-182880" algn="l" defTabSz="914400" rtl="0" eaLnBrk="1" fontAlgn="auto" latinLnBrk="0" hangingPunct="1">
              <a:lnSpc>
                <a:spcPct val="114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Pruebas de usabilidad en dispositivos reales en campo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2880" marR="0" lvl="0" indent="-182880" algn="l" defTabSz="914400" rtl="0" eaLnBrk="1" fontAlgn="auto" latinLnBrk="0" hangingPunct="1">
              <a:lnSpc>
                <a:spcPct val="114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Expansión a versión web y de escritorio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661475" y="5725120"/>
            <a:ext cx="10868745" cy="536476"/>
          </a:xfrm>
          <a:prstGeom prst="roundRect">
            <a:avLst>
              <a:gd name="adj" fmla="val 3252"/>
            </a:avLst>
          </a:prstGeom>
          <a:solidFill>
            <a:srgbClr val="7B040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2" name="Image 0" descr="preencoded.png"/>
          <p:cNvPicPr>
            <a:picLocks noChangeAspect="1"/>
          </p:cNvPicPr>
          <p:nvPr/>
        </p:nvPicPr>
        <p:blipFill>
          <a:blip r:embed="rId3"/>
          <a:stretch>
            <a:fillRect/>
          </a:stretch>
        </p:blipFill>
        <p:spPr>
          <a:xfrm>
            <a:off x="777756" y="5842099"/>
            <a:ext cx="145352" cy="116284"/>
          </a:xfrm>
          <a:prstGeom prst="rect">
            <a:avLst/>
          </a:prstGeom>
        </p:spPr>
      </p:pic>
      <p:sp>
        <p:nvSpPr>
          <p:cNvPr id="43" name="Text 40"/>
          <p:cNvSpPr/>
          <p:nvPr/>
        </p:nvSpPr>
        <p:spPr>
          <a:xfrm>
            <a:off x="1039390" y="5835948"/>
            <a:ext cx="10374549" cy="3230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Noto Color Emoji" pitchFamily="34" charset="0"/>
                <a:ea typeface="Noto Color Emoji" pitchFamily="34" charset="-122"/>
                <a:cs typeface="Noto Color Emoji" pitchFamily="34" charset="-120"/>
              </a:rPr>
              <a:t>📋</a:t>
            </a:r>
            <a:r>
              <a:rPr kumimoji="0" lang="en-US" sz="9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a:t>
            </a:r>
            <a:r>
              <a:rPr kumimoji="0" lang="en-US" sz="90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Nota para el equipo:</a:t>
            </a:r>
            <a:r>
              <a:rPr kumimoji="0" lang="en-US" sz="9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Esta presentación resume los aspectos clave del proyecto para la sustentación. Vamos a </a:t>
            </a:r>
            <a:r>
              <a:rPr kumimoji="0" lang="en-US" sz="900" b="0" i="0" u="none" strike="noStrike" kern="1200" cap="none" spc="0" normalizeH="0" baseline="0" noProof="0" dirty="0" err="1">
                <a:ln>
                  <a:noFill/>
                </a:ln>
                <a:solidFill>
                  <a:srgbClr val="FFFFFF"/>
                </a:solidFill>
                <a:effectLst/>
                <a:uLnTx/>
                <a:uFillTx/>
                <a:latin typeface="Inter" pitchFamily="34" charset="0"/>
                <a:ea typeface="Inter" pitchFamily="34" charset="-122"/>
                <a:cs typeface="Inter" pitchFamily="34" charset="-120"/>
              </a:rPr>
              <a:t>complementar</a:t>
            </a:r>
            <a:r>
              <a:rPr kumimoji="0" lang="en-US" sz="9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con demostración en vivo del prototipo en dispositivo móvil para validar el flujo de navegación implementado.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60D2F98-FA48-B33D-1D6D-92DE617EA882}"/>
              </a:ext>
            </a:extLst>
          </p:cNvPr>
          <p:cNvSpPr/>
          <p:nvPr/>
        </p:nvSpPr>
        <p:spPr>
          <a:xfrm>
            <a:off x="3573519" y="2967335"/>
            <a:ext cx="5044971" cy="923330"/>
          </a:xfrm>
          <a:prstGeom prst="rect">
            <a:avLst/>
          </a:prstGeom>
          <a:noFill/>
        </p:spPr>
        <p:txBody>
          <a:bodyPr wrap="none" lIns="91440" tIns="45720" rIns="91440" bIns="45720">
            <a:spAutoFit/>
          </a:bodyPr>
          <a:lstStyle/>
          <a:p>
            <a:pPr algn="ctr"/>
            <a:r>
              <a:rPr lang="es-E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¡Muchas gracias!</a:t>
            </a:r>
            <a:endParaRPr lang="es-E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795355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3841</Words>
  <Application>Microsoft Office PowerPoint</Application>
  <PresentationFormat>Panorámica</PresentationFormat>
  <Paragraphs>298</Paragraphs>
  <Slides>29</Slides>
  <Notes>28</Notes>
  <HiddenSlides>0</HiddenSlides>
  <MMClips>0</MMClips>
  <ScaleCrop>false</ScaleCrop>
  <HeadingPairs>
    <vt:vector size="6" baseType="variant">
      <vt:variant>
        <vt:lpstr>Fuentes usadas</vt:lpstr>
      </vt:variant>
      <vt:variant>
        <vt:i4>9</vt:i4>
      </vt:variant>
      <vt:variant>
        <vt:lpstr>Tema</vt:lpstr>
      </vt:variant>
      <vt:variant>
        <vt:i4>2</vt:i4>
      </vt:variant>
      <vt:variant>
        <vt:lpstr>Títulos de diapositiva</vt:lpstr>
      </vt:variant>
      <vt:variant>
        <vt:i4>29</vt:i4>
      </vt:variant>
    </vt:vector>
  </HeadingPairs>
  <TitlesOfParts>
    <vt:vector size="40" baseType="lpstr">
      <vt:lpstr>Instrument Sans</vt:lpstr>
      <vt:lpstr>Inter Bold</vt:lpstr>
      <vt:lpstr>Calibri</vt:lpstr>
      <vt:lpstr>Inter</vt:lpstr>
      <vt:lpstr>Instrument Sans Medium</vt:lpstr>
      <vt:lpstr>Aptos</vt:lpstr>
      <vt:lpstr>Noto Color Emoji</vt:lpstr>
      <vt:lpstr>Consolas</vt:lpstr>
      <vt:lpstr>Arial</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USUARIO</dc:creator>
  <cp:lastModifiedBy>andrea calle</cp:lastModifiedBy>
  <cp:revision>3</cp:revision>
  <dcterms:created xsi:type="dcterms:W3CDTF">2026-09-25T22:23:22Z</dcterms:created>
  <dcterms:modified xsi:type="dcterms:W3CDTF">2026-09-26T13:54:42Z</dcterms:modified>
</cp:coreProperties>
</file>